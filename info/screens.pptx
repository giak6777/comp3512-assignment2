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82" r:id="rId3"/>
    <p:sldId id="281" r:id="rId4"/>
    <p:sldId id="279" r:id="rId5"/>
    <p:sldId id="278" r:id="rId6"/>
    <p:sldId id="280" r:id="rId7"/>
    <p:sldId id="283" r:id="rId8"/>
    <p:sldId id="2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D9D9D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7" d="100"/>
          <a:sy n="97" d="100"/>
        </p:scale>
        <p:origin x="108" y="5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6F92E7-C3BD-47F2-BDEF-372BA70DA152}"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650478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60030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6F92E7-C3BD-47F2-BDEF-372BA70DA152}"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1218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6F92E7-C3BD-47F2-BDEF-372BA70DA152}"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45157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6F92E7-C3BD-47F2-BDEF-372BA70DA152}"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20809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6F92E7-C3BD-47F2-BDEF-372BA70DA152}" type="datetimeFigureOut">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75592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6F92E7-C3BD-47F2-BDEF-372BA70DA152}" type="datetimeFigureOut">
              <a:rPr lang="en-US" smtClean="0"/>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57753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6608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88444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305207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32775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F92E7-C3BD-47F2-BDEF-372BA70DA152}" type="datetimeFigureOut">
              <a:rPr lang="en-US" smtClean="0"/>
              <a:t>10/28/2025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B4CE5-84A8-487D-AF64-4ADCDC1421EB}" type="slidenum">
              <a:rPr lang="en-US" smtClean="0"/>
              <a:t>‹#›</a:t>
            </a:fld>
            <a:endParaRPr lang="en-US"/>
          </a:p>
        </p:txBody>
      </p:sp>
    </p:spTree>
    <p:extLst>
      <p:ext uri="{BB962C8B-B14F-4D97-AF65-F5344CB8AC3E}">
        <p14:creationId xmlns:p14="http://schemas.microsoft.com/office/powerpoint/2010/main" val="1525307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8">
            <a:extLst>
              <a:ext uri="{FF2B5EF4-FFF2-40B4-BE49-F238E27FC236}">
                <a16:creationId xmlns:a16="http://schemas.microsoft.com/office/drawing/2014/main" id="{EF2B1CAD-5224-5EC0-71CF-FFC5657647D1}"/>
              </a:ext>
            </a:extLst>
          </p:cNvPr>
          <p:cNvSpPr/>
          <p:nvPr/>
        </p:nvSpPr>
        <p:spPr>
          <a:xfrm>
            <a:off x="9689149"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409828-51CB-98B8-F97E-86EC460A70DF}"/>
              </a:ext>
            </a:extLst>
          </p:cNvPr>
          <p:cNvSpPr txBox="1"/>
          <p:nvPr/>
        </p:nvSpPr>
        <p:spPr>
          <a:xfrm>
            <a:off x="9714686" y="-530341"/>
            <a:ext cx="567784" cy="276999"/>
          </a:xfrm>
          <a:prstGeom prst="rect">
            <a:avLst/>
          </a:prstGeom>
          <a:noFill/>
        </p:spPr>
        <p:txBody>
          <a:bodyPr wrap="none" rtlCol="0">
            <a:spAutoFit/>
          </a:bodyPr>
          <a:lstStyle/>
          <a:p>
            <a:r>
              <a:rPr lang="en-US" sz="1200" b="1" dirty="0"/>
              <a:t>Home</a:t>
            </a:r>
          </a:p>
        </p:txBody>
      </p:sp>
      <p:sp>
        <p:nvSpPr>
          <p:cNvPr id="7" name="Rectangle 6">
            <a:extLst>
              <a:ext uri="{FF2B5EF4-FFF2-40B4-BE49-F238E27FC236}">
                <a16:creationId xmlns:a16="http://schemas.microsoft.com/office/drawing/2014/main" id="{C3BD87DC-378B-6DEB-D49C-6D682070663F}"/>
              </a:ext>
            </a:extLst>
          </p:cNvPr>
          <p:cNvSpPr/>
          <p:nvPr/>
        </p:nvSpPr>
        <p:spPr>
          <a:xfrm>
            <a:off x="880562" y="1241881"/>
            <a:ext cx="8067798" cy="3389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6C4CE1DB-0DE1-1057-E72A-3F5E132CB17B}"/>
              </a:ext>
            </a:extLst>
          </p:cNvPr>
          <p:cNvSpPr txBox="1"/>
          <p:nvPr/>
        </p:nvSpPr>
        <p:spPr>
          <a:xfrm>
            <a:off x="8948360" y="-1063289"/>
            <a:ext cx="1439210" cy="261610"/>
          </a:xfrm>
          <a:prstGeom prst="rect">
            <a:avLst/>
          </a:prstGeom>
          <a:noFill/>
        </p:spPr>
        <p:txBody>
          <a:bodyPr wrap="square" rtlCol="0">
            <a:spAutoFit/>
          </a:bodyPr>
          <a:lstStyle/>
          <a:p>
            <a:r>
              <a:rPr lang="en-US" sz="1100" i="1" dirty="0">
                <a:solidFill>
                  <a:srgbClr val="0070C0"/>
                </a:solidFill>
              </a:rPr>
              <a:t>switch to home page</a:t>
            </a:r>
          </a:p>
        </p:txBody>
      </p:sp>
      <p:cxnSp>
        <p:nvCxnSpPr>
          <p:cNvPr id="17" name="Straight Connector 16">
            <a:extLst>
              <a:ext uri="{FF2B5EF4-FFF2-40B4-BE49-F238E27FC236}">
                <a16:creationId xmlns:a16="http://schemas.microsoft.com/office/drawing/2014/main" id="{5E59E70F-6999-7F79-3376-DED4DEEAAF3F}"/>
              </a:ext>
            </a:extLst>
          </p:cNvPr>
          <p:cNvCxnSpPr>
            <a:cxnSpLocks/>
          </p:cNvCxnSpPr>
          <p:nvPr/>
        </p:nvCxnSpPr>
        <p:spPr>
          <a:xfrm>
            <a:off x="10154224" y="-793133"/>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FD77C47-0F8E-B1FB-6DE6-6C29EFD4BE96}"/>
              </a:ext>
            </a:extLst>
          </p:cNvPr>
          <p:cNvSpPr txBox="1"/>
          <p:nvPr/>
        </p:nvSpPr>
        <p:spPr>
          <a:xfrm>
            <a:off x="3706824" y="2155886"/>
            <a:ext cx="2471785" cy="1446550"/>
          </a:xfrm>
          <a:prstGeom prst="rect">
            <a:avLst/>
          </a:prstGeom>
          <a:noFill/>
        </p:spPr>
        <p:txBody>
          <a:bodyPr wrap="square" rtlCol="0">
            <a:spAutoFit/>
          </a:bodyPr>
          <a:lstStyle/>
          <a:p>
            <a:r>
              <a:rPr lang="en-US" sz="1100" i="1" dirty="0">
                <a:solidFill>
                  <a:srgbClr val="0070C0"/>
                </a:solidFill>
              </a:rPr>
              <a:t>Make it interesting … typically a home page has an extra-large hero image, and a few featured products featured in a larger rendition.</a:t>
            </a:r>
          </a:p>
          <a:p>
            <a:endParaRPr lang="en-US" sz="1100" i="1" dirty="0">
              <a:solidFill>
                <a:srgbClr val="0070C0"/>
              </a:solidFill>
            </a:endParaRPr>
          </a:p>
          <a:p>
            <a:r>
              <a:rPr lang="en-US" sz="1100" i="1" dirty="0">
                <a:solidFill>
                  <a:srgbClr val="0070C0"/>
                </a:solidFill>
              </a:rPr>
              <a:t>I’d encourage you to take a look at other online stores for ideas.</a:t>
            </a:r>
          </a:p>
          <a:p>
            <a:endParaRPr lang="en-US" sz="1100" i="1" dirty="0">
              <a:solidFill>
                <a:srgbClr val="0070C0"/>
              </a:solidFill>
            </a:endParaRPr>
          </a:p>
        </p:txBody>
      </p:sp>
      <p:sp>
        <p:nvSpPr>
          <p:cNvPr id="26" name="Rounded Rectangle 68">
            <a:extLst>
              <a:ext uri="{FF2B5EF4-FFF2-40B4-BE49-F238E27FC236}">
                <a16:creationId xmlns:a16="http://schemas.microsoft.com/office/drawing/2014/main" id="{79820577-B15F-FC02-98C5-3DEF560AAD9A}"/>
              </a:ext>
            </a:extLst>
          </p:cNvPr>
          <p:cNvSpPr/>
          <p:nvPr/>
        </p:nvSpPr>
        <p:spPr>
          <a:xfrm>
            <a:off x="10727852"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EDB982C-F326-FBB3-9378-61B03CC3A558}"/>
              </a:ext>
            </a:extLst>
          </p:cNvPr>
          <p:cNvSpPr txBox="1"/>
          <p:nvPr/>
        </p:nvSpPr>
        <p:spPr>
          <a:xfrm>
            <a:off x="10753389" y="-530341"/>
            <a:ext cx="659219" cy="276999"/>
          </a:xfrm>
          <a:prstGeom prst="rect">
            <a:avLst/>
          </a:prstGeom>
          <a:noFill/>
        </p:spPr>
        <p:txBody>
          <a:bodyPr wrap="none" rtlCol="0">
            <a:spAutoFit/>
          </a:bodyPr>
          <a:lstStyle/>
          <a:p>
            <a:r>
              <a:rPr lang="en-US" sz="1200" b="1" dirty="0"/>
              <a:t>Browse</a:t>
            </a:r>
          </a:p>
        </p:txBody>
      </p:sp>
      <p:cxnSp>
        <p:nvCxnSpPr>
          <p:cNvPr id="28" name="Straight Connector 27">
            <a:extLst>
              <a:ext uri="{FF2B5EF4-FFF2-40B4-BE49-F238E27FC236}">
                <a16:creationId xmlns:a16="http://schemas.microsoft.com/office/drawing/2014/main" id="{765778DD-E584-DD08-9EBE-865CF4914157}"/>
              </a:ext>
            </a:extLst>
          </p:cNvPr>
          <p:cNvCxnSpPr>
            <a:cxnSpLocks/>
          </p:cNvCxnSpPr>
          <p:nvPr/>
        </p:nvCxnSpPr>
        <p:spPr>
          <a:xfrm>
            <a:off x="11087749" y="-771621"/>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4665118-E8DF-4FAD-E577-AAE278BCBA32}"/>
              </a:ext>
            </a:extLst>
          </p:cNvPr>
          <p:cNvSpPr txBox="1"/>
          <p:nvPr/>
        </p:nvSpPr>
        <p:spPr>
          <a:xfrm>
            <a:off x="10356039" y="-1063289"/>
            <a:ext cx="1439210" cy="261610"/>
          </a:xfrm>
          <a:prstGeom prst="rect">
            <a:avLst/>
          </a:prstGeom>
          <a:noFill/>
        </p:spPr>
        <p:txBody>
          <a:bodyPr wrap="square" rtlCol="0">
            <a:spAutoFit/>
          </a:bodyPr>
          <a:lstStyle/>
          <a:p>
            <a:r>
              <a:rPr lang="en-US" sz="1100" i="1" dirty="0">
                <a:solidFill>
                  <a:srgbClr val="0070C0"/>
                </a:solidFill>
              </a:rPr>
              <a:t>switch to browse view</a:t>
            </a:r>
          </a:p>
        </p:txBody>
      </p:sp>
    </p:spTree>
    <p:extLst>
      <p:ext uri="{BB962C8B-B14F-4D97-AF65-F5344CB8AC3E}">
        <p14:creationId xmlns:p14="http://schemas.microsoft.com/office/powerpoint/2010/main" val="3821353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706F43-A676-70B8-E984-3F6F1673D700}"/>
              </a:ext>
            </a:extLst>
          </p:cNvPr>
          <p:cNvSpPr/>
          <p:nvPr/>
        </p:nvSpPr>
        <p:spPr>
          <a:xfrm>
            <a:off x="1151416" y="2215498"/>
            <a:ext cx="6469114" cy="580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3B1C5FD0-11C1-9708-61D2-DB72BFFEF4B0}"/>
              </a:ext>
            </a:extLst>
          </p:cNvPr>
          <p:cNvSpPr txBox="1"/>
          <p:nvPr/>
        </p:nvSpPr>
        <p:spPr>
          <a:xfrm>
            <a:off x="1266962" y="2397841"/>
            <a:ext cx="737841" cy="307777"/>
          </a:xfrm>
          <a:prstGeom prst="rect">
            <a:avLst/>
          </a:prstGeom>
          <a:noFill/>
        </p:spPr>
        <p:txBody>
          <a:bodyPr wrap="square" rtlCol="0">
            <a:spAutoFit/>
          </a:bodyPr>
          <a:lstStyle/>
          <a:p>
            <a:r>
              <a:rPr lang="en-US" sz="1400" b="1" dirty="0"/>
              <a:t>Logo</a:t>
            </a:r>
          </a:p>
        </p:txBody>
      </p:sp>
      <p:sp>
        <p:nvSpPr>
          <p:cNvPr id="4" name="Oval 3">
            <a:extLst>
              <a:ext uri="{FF2B5EF4-FFF2-40B4-BE49-F238E27FC236}">
                <a16:creationId xmlns:a16="http://schemas.microsoft.com/office/drawing/2014/main" id="{558D2B9C-3224-4956-B061-0E5D93156DF6}"/>
              </a:ext>
            </a:extLst>
          </p:cNvPr>
          <p:cNvSpPr/>
          <p:nvPr/>
        </p:nvSpPr>
        <p:spPr>
          <a:xfrm>
            <a:off x="7027410" y="2470970"/>
            <a:ext cx="136208" cy="13620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dirty="0">
                <a:solidFill>
                  <a:schemeClr val="bg1">
                    <a:lumMod val="85000"/>
                  </a:schemeClr>
                </a:solidFill>
              </a:rPr>
              <a:t>6</a:t>
            </a:r>
          </a:p>
        </p:txBody>
      </p:sp>
      <p:sp>
        <p:nvSpPr>
          <p:cNvPr id="5" name="TextBox 4">
            <a:extLst>
              <a:ext uri="{FF2B5EF4-FFF2-40B4-BE49-F238E27FC236}">
                <a16:creationId xmlns:a16="http://schemas.microsoft.com/office/drawing/2014/main" id="{0E74EF76-E228-8856-58BA-56361713C442}"/>
              </a:ext>
            </a:extLst>
          </p:cNvPr>
          <p:cNvSpPr txBox="1"/>
          <p:nvPr/>
        </p:nvSpPr>
        <p:spPr>
          <a:xfrm>
            <a:off x="3039632" y="2432842"/>
            <a:ext cx="2598711" cy="246221"/>
          </a:xfrm>
          <a:prstGeom prst="rect">
            <a:avLst/>
          </a:prstGeom>
          <a:noFill/>
        </p:spPr>
        <p:txBody>
          <a:bodyPr wrap="square" rtlCol="0">
            <a:spAutoFit/>
          </a:bodyPr>
          <a:lstStyle/>
          <a:p>
            <a:r>
              <a:rPr lang="en-US" sz="1000" b="1" dirty="0"/>
              <a:t>Home | Browse | About</a:t>
            </a:r>
          </a:p>
        </p:txBody>
      </p:sp>
      <p:sp>
        <p:nvSpPr>
          <p:cNvPr id="6" name="TextBox 5">
            <a:extLst>
              <a:ext uri="{FF2B5EF4-FFF2-40B4-BE49-F238E27FC236}">
                <a16:creationId xmlns:a16="http://schemas.microsoft.com/office/drawing/2014/main" id="{33334401-6DE7-0276-743D-27CDA79D5CFC}"/>
              </a:ext>
            </a:extLst>
          </p:cNvPr>
          <p:cNvSpPr txBox="1"/>
          <p:nvPr/>
        </p:nvSpPr>
        <p:spPr>
          <a:xfrm>
            <a:off x="6685786" y="2419009"/>
            <a:ext cx="655681" cy="246221"/>
          </a:xfrm>
          <a:prstGeom prst="rect">
            <a:avLst/>
          </a:prstGeom>
          <a:noFill/>
        </p:spPr>
        <p:txBody>
          <a:bodyPr wrap="square" rtlCol="0">
            <a:spAutoFit/>
          </a:bodyPr>
          <a:lstStyle/>
          <a:p>
            <a:r>
              <a:rPr lang="en-US" sz="1000" b="1" dirty="0"/>
              <a:t>Cart</a:t>
            </a:r>
          </a:p>
        </p:txBody>
      </p:sp>
      <p:sp>
        <p:nvSpPr>
          <p:cNvPr id="7" name="TextBox 6">
            <a:extLst>
              <a:ext uri="{FF2B5EF4-FFF2-40B4-BE49-F238E27FC236}">
                <a16:creationId xmlns:a16="http://schemas.microsoft.com/office/drawing/2014/main" id="{E34D8F68-B9EB-AA77-4F63-692A45B40F76}"/>
              </a:ext>
            </a:extLst>
          </p:cNvPr>
          <p:cNvSpPr txBox="1"/>
          <p:nvPr/>
        </p:nvSpPr>
        <p:spPr>
          <a:xfrm>
            <a:off x="3834940" y="1907721"/>
            <a:ext cx="1946734" cy="307777"/>
          </a:xfrm>
          <a:prstGeom prst="rect">
            <a:avLst/>
          </a:prstGeom>
          <a:noFill/>
        </p:spPr>
        <p:txBody>
          <a:bodyPr wrap="square" rtlCol="0">
            <a:spAutoFit/>
          </a:bodyPr>
          <a:lstStyle/>
          <a:p>
            <a:r>
              <a:rPr lang="en-US" sz="1400" b="1" dirty="0"/>
              <a:t>Header</a:t>
            </a:r>
          </a:p>
        </p:txBody>
      </p:sp>
      <p:sp>
        <p:nvSpPr>
          <p:cNvPr id="8" name="Rectangle 7">
            <a:extLst>
              <a:ext uri="{FF2B5EF4-FFF2-40B4-BE49-F238E27FC236}">
                <a16:creationId xmlns:a16="http://schemas.microsoft.com/office/drawing/2014/main" id="{F815FAA5-E409-F5F4-1255-44A1CD436EF6}"/>
              </a:ext>
            </a:extLst>
          </p:cNvPr>
          <p:cNvSpPr/>
          <p:nvPr/>
        </p:nvSpPr>
        <p:spPr>
          <a:xfrm>
            <a:off x="1151416" y="3531552"/>
            <a:ext cx="6469114" cy="1446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36DE5AE-D681-6ACE-6AB7-C3E63B61E6B0}"/>
              </a:ext>
            </a:extLst>
          </p:cNvPr>
          <p:cNvSpPr txBox="1"/>
          <p:nvPr/>
        </p:nvSpPr>
        <p:spPr>
          <a:xfrm>
            <a:off x="3894761" y="3200625"/>
            <a:ext cx="1946734" cy="307777"/>
          </a:xfrm>
          <a:prstGeom prst="rect">
            <a:avLst/>
          </a:prstGeom>
          <a:noFill/>
        </p:spPr>
        <p:txBody>
          <a:bodyPr wrap="square" rtlCol="0">
            <a:spAutoFit/>
          </a:bodyPr>
          <a:lstStyle/>
          <a:p>
            <a:r>
              <a:rPr lang="en-US" sz="1400" b="1" dirty="0"/>
              <a:t>Footer</a:t>
            </a:r>
          </a:p>
        </p:txBody>
      </p:sp>
      <p:sp>
        <p:nvSpPr>
          <p:cNvPr id="11" name="TextBox 10">
            <a:extLst>
              <a:ext uri="{FF2B5EF4-FFF2-40B4-BE49-F238E27FC236}">
                <a16:creationId xmlns:a16="http://schemas.microsoft.com/office/drawing/2014/main" id="{31EBAC5E-9286-E87F-0EE2-3A3CE8708FD1}"/>
              </a:ext>
            </a:extLst>
          </p:cNvPr>
          <p:cNvSpPr txBox="1"/>
          <p:nvPr/>
        </p:nvSpPr>
        <p:spPr>
          <a:xfrm>
            <a:off x="3318056" y="4165140"/>
            <a:ext cx="2135834" cy="769441"/>
          </a:xfrm>
          <a:prstGeom prst="rect">
            <a:avLst/>
          </a:prstGeom>
          <a:noFill/>
        </p:spPr>
        <p:txBody>
          <a:bodyPr wrap="square" rtlCol="0">
            <a:spAutoFit/>
          </a:bodyPr>
          <a:lstStyle/>
          <a:p>
            <a:r>
              <a:rPr lang="en-US" sz="1100" i="1" dirty="0">
                <a:solidFill>
                  <a:srgbClr val="0070C0"/>
                </a:solidFill>
              </a:rPr>
              <a:t>It’s up to you what else you put into it as long as its consistent page to page. Look at your first assignment to get some ideas.</a:t>
            </a:r>
          </a:p>
        </p:txBody>
      </p:sp>
      <p:sp>
        <p:nvSpPr>
          <p:cNvPr id="12" name="TextBox 11">
            <a:extLst>
              <a:ext uri="{FF2B5EF4-FFF2-40B4-BE49-F238E27FC236}">
                <a16:creationId xmlns:a16="http://schemas.microsoft.com/office/drawing/2014/main" id="{49C4CCF4-0A12-E250-A51A-9BD871D0EEE2}"/>
              </a:ext>
            </a:extLst>
          </p:cNvPr>
          <p:cNvSpPr txBox="1"/>
          <p:nvPr/>
        </p:nvSpPr>
        <p:spPr>
          <a:xfrm>
            <a:off x="3318056" y="3701180"/>
            <a:ext cx="2135834" cy="261610"/>
          </a:xfrm>
          <a:prstGeom prst="rect">
            <a:avLst/>
          </a:prstGeom>
          <a:noFill/>
        </p:spPr>
        <p:txBody>
          <a:bodyPr wrap="square" rtlCol="0">
            <a:spAutoFit/>
          </a:bodyPr>
          <a:lstStyle/>
          <a:p>
            <a:r>
              <a:rPr lang="en-US" sz="1100" i="1" dirty="0">
                <a:solidFill>
                  <a:srgbClr val="0070C0"/>
                </a:solidFill>
              </a:rPr>
              <a:t>Provide links to your </a:t>
            </a:r>
            <a:r>
              <a:rPr lang="en-US" sz="1100" i="1" dirty="0" err="1">
                <a:solidFill>
                  <a:srgbClr val="0070C0"/>
                </a:solidFill>
              </a:rPr>
              <a:t>github</a:t>
            </a:r>
            <a:r>
              <a:rPr lang="en-US" sz="1100" i="1" dirty="0">
                <a:solidFill>
                  <a:srgbClr val="0070C0"/>
                </a:solidFill>
              </a:rPr>
              <a:t> page.</a:t>
            </a:r>
          </a:p>
        </p:txBody>
      </p:sp>
      <p:sp>
        <p:nvSpPr>
          <p:cNvPr id="13" name="TextBox 12">
            <a:extLst>
              <a:ext uri="{FF2B5EF4-FFF2-40B4-BE49-F238E27FC236}">
                <a16:creationId xmlns:a16="http://schemas.microsoft.com/office/drawing/2014/main" id="{72BCAA93-9F57-0B9D-790D-7A8BF982AEDB}"/>
              </a:ext>
            </a:extLst>
          </p:cNvPr>
          <p:cNvSpPr txBox="1"/>
          <p:nvPr/>
        </p:nvSpPr>
        <p:spPr>
          <a:xfrm>
            <a:off x="3318056" y="1728253"/>
            <a:ext cx="2588131" cy="261610"/>
          </a:xfrm>
          <a:prstGeom prst="rect">
            <a:avLst/>
          </a:prstGeom>
          <a:noFill/>
        </p:spPr>
        <p:txBody>
          <a:bodyPr wrap="square" rtlCol="0">
            <a:spAutoFit/>
          </a:bodyPr>
          <a:lstStyle/>
          <a:p>
            <a:r>
              <a:rPr lang="en-US" sz="1100" i="1" dirty="0">
                <a:solidFill>
                  <a:srgbClr val="0070C0"/>
                </a:solidFill>
              </a:rPr>
              <a:t>All your pages will have the same header.</a:t>
            </a:r>
          </a:p>
        </p:txBody>
      </p:sp>
      <p:sp>
        <p:nvSpPr>
          <p:cNvPr id="14" name="TextBox 13">
            <a:extLst>
              <a:ext uri="{FF2B5EF4-FFF2-40B4-BE49-F238E27FC236}">
                <a16:creationId xmlns:a16="http://schemas.microsoft.com/office/drawing/2014/main" id="{585C0AF5-7A1A-BEA3-392C-3A44B881F272}"/>
              </a:ext>
            </a:extLst>
          </p:cNvPr>
          <p:cNvSpPr txBox="1"/>
          <p:nvPr/>
        </p:nvSpPr>
        <p:spPr>
          <a:xfrm>
            <a:off x="1151416" y="1728253"/>
            <a:ext cx="2360289" cy="261610"/>
          </a:xfrm>
          <a:prstGeom prst="rect">
            <a:avLst/>
          </a:prstGeom>
          <a:noFill/>
        </p:spPr>
        <p:txBody>
          <a:bodyPr wrap="square" rtlCol="0">
            <a:spAutoFit/>
          </a:bodyPr>
          <a:lstStyle/>
          <a:p>
            <a:r>
              <a:rPr lang="en-US" sz="1100" i="1" dirty="0">
                <a:solidFill>
                  <a:srgbClr val="0070C0"/>
                </a:solidFill>
              </a:rPr>
              <a:t>Display Home view when clicked</a:t>
            </a:r>
          </a:p>
        </p:txBody>
      </p:sp>
      <p:cxnSp>
        <p:nvCxnSpPr>
          <p:cNvPr id="15" name="Straight Connector 14">
            <a:extLst>
              <a:ext uri="{FF2B5EF4-FFF2-40B4-BE49-F238E27FC236}">
                <a16:creationId xmlns:a16="http://schemas.microsoft.com/office/drawing/2014/main" id="{7FB987E7-9BE7-28D5-7A81-E782BEAD6B94}"/>
              </a:ext>
            </a:extLst>
          </p:cNvPr>
          <p:cNvCxnSpPr>
            <a:cxnSpLocks/>
          </p:cNvCxnSpPr>
          <p:nvPr/>
        </p:nvCxnSpPr>
        <p:spPr>
          <a:xfrm>
            <a:off x="1359060" y="1981821"/>
            <a:ext cx="93726" cy="380045"/>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7069169-15C3-1891-CC4E-EDDB79F57115}"/>
              </a:ext>
            </a:extLst>
          </p:cNvPr>
          <p:cNvSpPr txBox="1"/>
          <p:nvPr/>
        </p:nvSpPr>
        <p:spPr>
          <a:xfrm>
            <a:off x="6049318" y="1784611"/>
            <a:ext cx="2584297" cy="430887"/>
          </a:xfrm>
          <a:prstGeom prst="rect">
            <a:avLst/>
          </a:prstGeom>
          <a:noFill/>
        </p:spPr>
        <p:txBody>
          <a:bodyPr wrap="square" rtlCol="0">
            <a:spAutoFit/>
          </a:bodyPr>
          <a:lstStyle/>
          <a:p>
            <a:r>
              <a:rPr lang="en-US" sz="1100" i="1" dirty="0">
                <a:solidFill>
                  <a:srgbClr val="0070C0"/>
                </a:solidFill>
              </a:rPr>
              <a:t>Every time an item is added or removed from cart, update this number</a:t>
            </a:r>
          </a:p>
        </p:txBody>
      </p:sp>
      <p:sp>
        <p:nvSpPr>
          <p:cNvPr id="17" name="TextBox 16">
            <a:extLst>
              <a:ext uri="{FF2B5EF4-FFF2-40B4-BE49-F238E27FC236}">
                <a16:creationId xmlns:a16="http://schemas.microsoft.com/office/drawing/2014/main" id="{C8D7B767-5EC8-574A-404C-BD9C1FC2E5F3}"/>
              </a:ext>
            </a:extLst>
          </p:cNvPr>
          <p:cNvSpPr txBox="1"/>
          <p:nvPr/>
        </p:nvSpPr>
        <p:spPr>
          <a:xfrm>
            <a:off x="3461187" y="2813313"/>
            <a:ext cx="2588131" cy="261610"/>
          </a:xfrm>
          <a:prstGeom prst="rect">
            <a:avLst/>
          </a:prstGeom>
          <a:noFill/>
        </p:spPr>
        <p:txBody>
          <a:bodyPr wrap="square" rtlCol="0">
            <a:spAutoFit/>
          </a:bodyPr>
          <a:lstStyle/>
          <a:p>
            <a:r>
              <a:rPr lang="en-US" sz="1100" i="1" dirty="0">
                <a:solidFill>
                  <a:srgbClr val="0070C0"/>
                </a:solidFill>
              </a:rPr>
              <a:t>Provide these links to the different views.</a:t>
            </a:r>
          </a:p>
        </p:txBody>
      </p:sp>
      <p:sp>
        <p:nvSpPr>
          <p:cNvPr id="18" name="TextBox 17">
            <a:extLst>
              <a:ext uri="{FF2B5EF4-FFF2-40B4-BE49-F238E27FC236}">
                <a16:creationId xmlns:a16="http://schemas.microsoft.com/office/drawing/2014/main" id="{5BDD5828-574A-3C3B-CB4A-D7E06E2A6714}"/>
              </a:ext>
            </a:extLst>
          </p:cNvPr>
          <p:cNvSpPr txBox="1"/>
          <p:nvPr/>
        </p:nvSpPr>
        <p:spPr>
          <a:xfrm>
            <a:off x="3091907" y="5017539"/>
            <a:ext cx="2588131" cy="261610"/>
          </a:xfrm>
          <a:prstGeom prst="rect">
            <a:avLst/>
          </a:prstGeom>
          <a:noFill/>
        </p:spPr>
        <p:txBody>
          <a:bodyPr wrap="square" rtlCol="0">
            <a:spAutoFit/>
          </a:bodyPr>
          <a:lstStyle/>
          <a:p>
            <a:r>
              <a:rPr lang="en-US" sz="1100" i="1" dirty="0">
                <a:solidFill>
                  <a:srgbClr val="0070C0"/>
                </a:solidFill>
              </a:rPr>
              <a:t>All your pages will have the same footer.</a:t>
            </a:r>
          </a:p>
        </p:txBody>
      </p:sp>
    </p:spTree>
    <p:extLst>
      <p:ext uri="{BB962C8B-B14F-4D97-AF65-F5344CB8AC3E}">
        <p14:creationId xmlns:p14="http://schemas.microsoft.com/office/powerpoint/2010/main" val="194153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1E3C5-8D8D-1749-4A3B-FBA3573DB211}"/>
              </a:ext>
            </a:extLst>
          </p:cNvPr>
          <p:cNvSpPr/>
          <p:nvPr/>
        </p:nvSpPr>
        <p:spPr>
          <a:xfrm>
            <a:off x="880562" y="1241881"/>
            <a:ext cx="5215438" cy="48732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ADEF3D0F-23C3-4327-8EDC-9D4A5230BC57}"/>
              </a:ext>
            </a:extLst>
          </p:cNvPr>
          <p:cNvSpPr/>
          <p:nvPr/>
        </p:nvSpPr>
        <p:spPr>
          <a:xfrm rot="10800000" flipH="1" flipV="1">
            <a:off x="1130193" y="290227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 name="Rectangle 4">
            <a:extLst>
              <a:ext uri="{FF2B5EF4-FFF2-40B4-BE49-F238E27FC236}">
                <a16:creationId xmlns:a16="http://schemas.microsoft.com/office/drawing/2014/main" id="{FF87083A-534E-5F6B-CD9A-0D39A2D772D8}"/>
              </a:ext>
            </a:extLst>
          </p:cNvPr>
          <p:cNvSpPr/>
          <p:nvPr/>
        </p:nvSpPr>
        <p:spPr>
          <a:xfrm rot="10800000" flipH="1" flipV="1">
            <a:off x="2305361" y="290227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6" name="Rectangle 5">
            <a:extLst>
              <a:ext uri="{FF2B5EF4-FFF2-40B4-BE49-F238E27FC236}">
                <a16:creationId xmlns:a16="http://schemas.microsoft.com/office/drawing/2014/main" id="{778D71F2-D69B-B5ED-FECA-CFD9B9F65FC7}"/>
              </a:ext>
            </a:extLst>
          </p:cNvPr>
          <p:cNvSpPr/>
          <p:nvPr/>
        </p:nvSpPr>
        <p:spPr>
          <a:xfrm rot="10800000" flipH="1" flipV="1">
            <a:off x="3493569" y="2911187"/>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7" name="TextBox 6">
            <a:extLst>
              <a:ext uri="{FF2B5EF4-FFF2-40B4-BE49-F238E27FC236}">
                <a16:creationId xmlns:a16="http://schemas.microsoft.com/office/drawing/2014/main" id="{713EEB6C-E024-EE34-D1F0-43CF0E4E861B}"/>
              </a:ext>
            </a:extLst>
          </p:cNvPr>
          <p:cNvSpPr txBox="1"/>
          <p:nvPr/>
        </p:nvSpPr>
        <p:spPr>
          <a:xfrm>
            <a:off x="1127123" y="4053195"/>
            <a:ext cx="992735" cy="246221"/>
          </a:xfrm>
          <a:prstGeom prst="rect">
            <a:avLst/>
          </a:prstGeom>
          <a:noFill/>
        </p:spPr>
        <p:txBody>
          <a:bodyPr wrap="square" rtlCol="0">
            <a:spAutoFit/>
          </a:bodyPr>
          <a:lstStyle/>
          <a:p>
            <a:pPr algn="ctr"/>
            <a:r>
              <a:rPr lang="en-US" sz="1000" dirty="0"/>
              <a:t>Category</a:t>
            </a:r>
          </a:p>
        </p:txBody>
      </p:sp>
      <p:sp>
        <p:nvSpPr>
          <p:cNvPr id="16" name="Rectangle 15">
            <a:extLst>
              <a:ext uri="{FF2B5EF4-FFF2-40B4-BE49-F238E27FC236}">
                <a16:creationId xmlns:a16="http://schemas.microsoft.com/office/drawing/2014/main" id="{22B167E5-87F5-9DCD-BF1F-05802B776964}"/>
              </a:ext>
            </a:extLst>
          </p:cNvPr>
          <p:cNvSpPr/>
          <p:nvPr/>
        </p:nvSpPr>
        <p:spPr>
          <a:xfrm>
            <a:off x="1018903" y="1375874"/>
            <a:ext cx="4885508" cy="1391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0962E7E7-D04D-F147-6827-420A99FA92FF}"/>
              </a:ext>
            </a:extLst>
          </p:cNvPr>
          <p:cNvSpPr txBox="1"/>
          <p:nvPr/>
        </p:nvSpPr>
        <p:spPr>
          <a:xfrm>
            <a:off x="2306091" y="1848161"/>
            <a:ext cx="2535874" cy="276999"/>
          </a:xfrm>
          <a:prstGeom prst="rect">
            <a:avLst/>
          </a:prstGeom>
          <a:noFill/>
        </p:spPr>
        <p:txBody>
          <a:bodyPr wrap="square" rtlCol="0">
            <a:spAutoFit/>
          </a:bodyPr>
          <a:lstStyle/>
          <a:p>
            <a:r>
              <a:rPr lang="en-US" sz="1200" b="1" dirty="0"/>
              <a:t>Hero image + title (women or men)</a:t>
            </a:r>
          </a:p>
        </p:txBody>
      </p:sp>
      <p:sp>
        <p:nvSpPr>
          <p:cNvPr id="18" name="TextBox 17">
            <a:extLst>
              <a:ext uri="{FF2B5EF4-FFF2-40B4-BE49-F238E27FC236}">
                <a16:creationId xmlns:a16="http://schemas.microsoft.com/office/drawing/2014/main" id="{54F8B5D1-58F9-3789-093B-1159B4A9C9BA}"/>
              </a:ext>
            </a:extLst>
          </p:cNvPr>
          <p:cNvSpPr txBox="1"/>
          <p:nvPr/>
        </p:nvSpPr>
        <p:spPr>
          <a:xfrm>
            <a:off x="2316866" y="4060844"/>
            <a:ext cx="992735" cy="246221"/>
          </a:xfrm>
          <a:prstGeom prst="rect">
            <a:avLst/>
          </a:prstGeom>
          <a:noFill/>
        </p:spPr>
        <p:txBody>
          <a:bodyPr wrap="square" rtlCol="0">
            <a:spAutoFit/>
          </a:bodyPr>
          <a:lstStyle/>
          <a:p>
            <a:pPr algn="ctr"/>
            <a:r>
              <a:rPr lang="en-US" sz="1000" dirty="0"/>
              <a:t>Category</a:t>
            </a:r>
          </a:p>
        </p:txBody>
      </p:sp>
      <p:sp>
        <p:nvSpPr>
          <p:cNvPr id="19" name="TextBox 18">
            <a:extLst>
              <a:ext uri="{FF2B5EF4-FFF2-40B4-BE49-F238E27FC236}">
                <a16:creationId xmlns:a16="http://schemas.microsoft.com/office/drawing/2014/main" id="{CB7E8856-8629-2104-5113-82ABAF3C3653}"/>
              </a:ext>
            </a:extLst>
          </p:cNvPr>
          <p:cNvSpPr txBox="1"/>
          <p:nvPr/>
        </p:nvSpPr>
        <p:spPr>
          <a:xfrm>
            <a:off x="3503539" y="4066984"/>
            <a:ext cx="992735" cy="246221"/>
          </a:xfrm>
          <a:prstGeom prst="rect">
            <a:avLst/>
          </a:prstGeom>
          <a:noFill/>
        </p:spPr>
        <p:txBody>
          <a:bodyPr wrap="square" rtlCol="0">
            <a:spAutoFit/>
          </a:bodyPr>
          <a:lstStyle/>
          <a:p>
            <a:pPr algn="ctr"/>
            <a:r>
              <a:rPr lang="en-US" sz="1000" dirty="0"/>
              <a:t>Category</a:t>
            </a:r>
          </a:p>
        </p:txBody>
      </p:sp>
      <p:sp>
        <p:nvSpPr>
          <p:cNvPr id="20" name="Rectangle 19">
            <a:extLst>
              <a:ext uri="{FF2B5EF4-FFF2-40B4-BE49-F238E27FC236}">
                <a16:creationId xmlns:a16="http://schemas.microsoft.com/office/drawing/2014/main" id="{2814C80F-DEA6-A156-9386-7DDE5E4298BC}"/>
              </a:ext>
            </a:extLst>
          </p:cNvPr>
          <p:cNvSpPr/>
          <p:nvPr/>
        </p:nvSpPr>
        <p:spPr>
          <a:xfrm rot="10800000" flipH="1" flipV="1">
            <a:off x="4678174" y="2911187"/>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1" name="TextBox 20">
            <a:extLst>
              <a:ext uri="{FF2B5EF4-FFF2-40B4-BE49-F238E27FC236}">
                <a16:creationId xmlns:a16="http://schemas.microsoft.com/office/drawing/2014/main" id="{7FEABC42-3602-7780-93D6-C9CEA9C5C10F}"/>
              </a:ext>
            </a:extLst>
          </p:cNvPr>
          <p:cNvSpPr txBox="1"/>
          <p:nvPr/>
        </p:nvSpPr>
        <p:spPr>
          <a:xfrm>
            <a:off x="4688144" y="4066984"/>
            <a:ext cx="992735" cy="246221"/>
          </a:xfrm>
          <a:prstGeom prst="rect">
            <a:avLst/>
          </a:prstGeom>
          <a:noFill/>
        </p:spPr>
        <p:txBody>
          <a:bodyPr wrap="square" rtlCol="0">
            <a:spAutoFit/>
          </a:bodyPr>
          <a:lstStyle/>
          <a:p>
            <a:pPr algn="ctr"/>
            <a:r>
              <a:rPr lang="en-US" sz="1000" dirty="0"/>
              <a:t>Category</a:t>
            </a:r>
          </a:p>
        </p:txBody>
      </p:sp>
      <p:sp>
        <p:nvSpPr>
          <p:cNvPr id="22" name="Rectangle 21">
            <a:extLst>
              <a:ext uri="{FF2B5EF4-FFF2-40B4-BE49-F238E27FC236}">
                <a16:creationId xmlns:a16="http://schemas.microsoft.com/office/drawing/2014/main" id="{D14AE27B-C0DD-93F6-6E75-B32131FA650C}"/>
              </a:ext>
            </a:extLst>
          </p:cNvPr>
          <p:cNvSpPr/>
          <p:nvPr/>
        </p:nvSpPr>
        <p:spPr>
          <a:xfrm rot="10800000" flipH="1" flipV="1">
            <a:off x="1130193" y="446519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3" name="Rectangle 22">
            <a:extLst>
              <a:ext uri="{FF2B5EF4-FFF2-40B4-BE49-F238E27FC236}">
                <a16:creationId xmlns:a16="http://schemas.microsoft.com/office/drawing/2014/main" id="{EA8AE815-CACB-8A15-0EC6-8A96B66C9A98}"/>
              </a:ext>
            </a:extLst>
          </p:cNvPr>
          <p:cNvSpPr/>
          <p:nvPr/>
        </p:nvSpPr>
        <p:spPr>
          <a:xfrm rot="10800000" flipH="1" flipV="1">
            <a:off x="2305361" y="446519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4" name="Rectangle 23">
            <a:extLst>
              <a:ext uri="{FF2B5EF4-FFF2-40B4-BE49-F238E27FC236}">
                <a16:creationId xmlns:a16="http://schemas.microsoft.com/office/drawing/2014/main" id="{EC2A789E-C05E-2AA4-BD16-C82F614E48A9}"/>
              </a:ext>
            </a:extLst>
          </p:cNvPr>
          <p:cNvSpPr/>
          <p:nvPr/>
        </p:nvSpPr>
        <p:spPr>
          <a:xfrm rot="10800000" flipH="1" flipV="1">
            <a:off x="3493569" y="447411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5" name="TextBox 24">
            <a:extLst>
              <a:ext uri="{FF2B5EF4-FFF2-40B4-BE49-F238E27FC236}">
                <a16:creationId xmlns:a16="http://schemas.microsoft.com/office/drawing/2014/main" id="{BC342907-C91C-70B2-EF67-464921E281A3}"/>
              </a:ext>
            </a:extLst>
          </p:cNvPr>
          <p:cNvSpPr txBox="1"/>
          <p:nvPr/>
        </p:nvSpPr>
        <p:spPr>
          <a:xfrm>
            <a:off x="1127123" y="5616120"/>
            <a:ext cx="992735" cy="246221"/>
          </a:xfrm>
          <a:prstGeom prst="rect">
            <a:avLst/>
          </a:prstGeom>
          <a:noFill/>
        </p:spPr>
        <p:txBody>
          <a:bodyPr wrap="square" rtlCol="0">
            <a:spAutoFit/>
          </a:bodyPr>
          <a:lstStyle/>
          <a:p>
            <a:pPr algn="ctr"/>
            <a:r>
              <a:rPr lang="en-US" sz="1000" dirty="0"/>
              <a:t>Category</a:t>
            </a:r>
          </a:p>
        </p:txBody>
      </p:sp>
      <p:sp>
        <p:nvSpPr>
          <p:cNvPr id="26" name="TextBox 25">
            <a:extLst>
              <a:ext uri="{FF2B5EF4-FFF2-40B4-BE49-F238E27FC236}">
                <a16:creationId xmlns:a16="http://schemas.microsoft.com/office/drawing/2014/main" id="{B3FB035A-0CCE-6BA0-A6A4-2D99A2C1F943}"/>
              </a:ext>
            </a:extLst>
          </p:cNvPr>
          <p:cNvSpPr txBox="1"/>
          <p:nvPr/>
        </p:nvSpPr>
        <p:spPr>
          <a:xfrm>
            <a:off x="2316866" y="5623769"/>
            <a:ext cx="992735" cy="246221"/>
          </a:xfrm>
          <a:prstGeom prst="rect">
            <a:avLst/>
          </a:prstGeom>
          <a:noFill/>
        </p:spPr>
        <p:txBody>
          <a:bodyPr wrap="square" rtlCol="0">
            <a:spAutoFit/>
          </a:bodyPr>
          <a:lstStyle/>
          <a:p>
            <a:pPr algn="ctr"/>
            <a:r>
              <a:rPr lang="en-US" sz="1000" dirty="0"/>
              <a:t>Category</a:t>
            </a:r>
          </a:p>
        </p:txBody>
      </p:sp>
      <p:sp>
        <p:nvSpPr>
          <p:cNvPr id="27" name="TextBox 26">
            <a:extLst>
              <a:ext uri="{FF2B5EF4-FFF2-40B4-BE49-F238E27FC236}">
                <a16:creationId xmlns:a16="http://schemas.microsoft.com/office/drawing/2014/main" id="{32EB8BE5-CD31-051E-FFB1-3CA1660D2E62}"/>
              </a:ext>
            </a:extLst>
          </p:cNvPr>
          <p:cNvSpPr txBox="1"/>
          <p:nvPr/>
        </p:nvSpPr>
        <p:spPr>
          <a:xfrm>
            <a:off x="3503539" y="5629909"/>
            <a:ext cx="992735" cy="246221"/>
          </a:xfrm>
          <a:prstGeom prst="rect">
            <a:avLst/>
          </a:prstGeom>
          <a:noFill/>
        </p:spPr>
        <p:txBody>
          <a:bodyPr wrap="square" rtlCol="0">
            <a:spAutoFit/>
          </a:bodyPr>
          <a:lstStyle/>
          <a:p>
            <a:pPr algn="ctr"/>
            <a:r>
              <a:rPr lang="en-US" sz="1000" dirty="0"/>
              <a:t>Category</a:t>
            </a:r>
          </a:p>
        </p:txBody>
      </p:sp>
      <p:sp>
        <p:nvSpPr>
          <p:cNvPr id="28" name="Rectangle 27">
            <a:extLst>
              <a:ext uri="{FF2B5EF4-FFF2-40B4-BE49-F238E27FC236}">
                <a16:creationId xmlns:a16="http://schemas.microsoft.com/office/drawing/2014/main" id="{B5B4E363-CE8C-B78C-E757-0769A04077B9}"/>
              </a:ext>
            </a:extLst>
          </p:cNvPr>
          <p:cNvSpPr/>
          <p:nvPr/>
        </p:nvSpPr>
        <p:spPr>
          <a:xfrm rot="10800000" flipH="1" flipV="1">
            <a:off x="4678174" y="447411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9" name="TextBox 28">
            <a:extLst>
              <a:ext uri="{FF2B5EF4-FFF2-40B4-BE49-F238E27FC236}">
                <a16:creationId xmlns:a16="http://schemas.microsoft.com/office/drawing/2014/main" id="{05268982-DD63-F155-A150-698206C82230}"/>
              </a:ext>
            </a:extLst>
          </p:cNvPr>
          <p:cNvSpPr txBox="1"/>
          <p:nvPr/>
        </p:nvSpPr>
        <p:spPr>
          <a:xfrm>
            <a:off x="4688144" y="5629909"/>
            <a:ext cx="992735" cy="246221"/>
          </a:xfrm>
          <a:prstGeom prst="rect">
            <a:avLst/>
          </a:prstGeom>
          <a:noFill/>
        </p:spPr>
        <p:txBody>
          <a:bodyPr wrap="square" rtlCol="0">
            <a:spAutoFit/>
          </a:bodyPr>
          <a:lstStyle/>
          <a:p>
            <a:pPr algn="ctr"/>
            <a:r>
              <a:rPr lang="en-US" sz="1000" dirty="0"/>
              <a:t>Category</a:t>
            </a:r>
          </a:p>
        </p:txBody>
      </p:sp>
      <p:cxnSp>
        <p:nvCxnSpPr>
          <p:cNvPr id="8" name="Straight Connector 7">
            <a:extLst>
              <a:ext uri="{FF2B5EF4-FFF2-40B4-BE49-F238E27FC236}">
                <a16:creationId xmlns:a16="http://schemas.microsoft.com/office/drawing/2014/main" id="{57DD9CA4-2BD9-D910-240A-05189C75336D}"/>
              </a:ext>
            </a:extLst>
          </p:cNvPr>
          <p:cNvCxnSpPr>
            <a:cxnSpLocks/>
          </p:cNvCxnSpPr>
          <p:nvPr/>
        </p:nvCxnSpPr>
        <p:spPr>
          <a:xfrm flipV="1">
            <a:off x="6268928" y="2125160"/>
            <a:ext cx="0" cy="3257397"/>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02C0493D-8AC4-700A-6020-DC72D12C5392}"/>
              </a:ext>
            </a:extLst>
          </p:cNvPr>
          <p:cNvSpPr txBox="1"/>
          <p:nvPr/>
        </p:nvSpPr>
        <p:spPr>
          <a:xfrm>
            <a:off x="6342561" y="3291403"/>
            <a:ext cx="2135834" cy="195438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a:p>
            <a:endParaRPr lang="en-US" sz="1100" i="1" dirty="0">
              <a:solidFill>
                <a:srgbClr val="0070C0"/>
              </a:solidFill>
            </a:endParaRPr>
          </a:p>
          <a:p>
            <a:r>
              <a:rPr lang="en-US" sz="1100" i="1" dirty="0">
                <a:solidFill>
                  <a:srgbClr val="0070C0"/>
                </a:solidFill>
              </a:rPr>
              <a:t>You might decide to combine the functionality in this page with that of the browse page.</a:t>
            </a:r>
          </a:p>
          <a:p>
            <a:endParaRPr lang="en-US" sz="1100" i="1" dirty="0">
              <a:solidFill>
                <a:srgbClr val="0070C0"/>
              </a:solidFill>
            </a:endParaRPr>
          </a:p>
          <a:p>
            <a:r>
              <a:rPr lang="en-US" sz="1100" i="1" dirty="0">
                <a:solidFill>
                  <a:srgbClr val="0070C0"/>
                </a:solidFill>
              </a:rPr>
              <a:t>You’ll also have to use some type of image placeholder service</a:t>
            </a:r>
          </a:p>
        </p:txBody>
      </p:sp>
    </p:spTree>
    <p:extLst>
      <p:ext uri="{BB962C8B-B14F-4D97-AF65-F5344CB8AC3E}">
        <p14:creationId xmlns:p14="http://schemas.microsoft.com/office/powerpoint/2010/main" val="244631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8518-11D1-6DAC-F39F-0F39A944A7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1CFF21-054C-DD60-A3A9-61F52B751E54}"/>
              </a:ext>
            </a:extLst>
          </p:cNvPr>
          <p:cNvSpPr/>
          <p:nvPr/>
        </p:nvSpPr>
        <p:spPr>
          <a:xfrm>
            <a:off x="2412602" y="1052704"/>
            <a:ext cx="646911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75CB86E-A14E-34D0-67C0-A5D8E8048FF5}"/>
              </a:ext>
            </a:extLst>
          </p:cNvPr>
          <p:cNvSpPr/>
          <p:nvPr/>
        </p:nvSpPr>
        <p:spPr>
          <a:xfrm>
            <a:off x="2587468" y="1249479"/>
            <a:ext cx="1900706" cy="51398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46921DA-B3E4-25BD-8B9B-E1398AAE73FA}"/>
              </a:ext>
            </a:extLst>
          </p:cNvPr>
          <p:cNvSpPr/>
          <p:nvPr/>
        </p:nvSpPr>
        <p:spPr>
          <a:xfrm>
            <a:off x="4660637" y="1249479"/>
            <a:ext cx="3948917" cy="51291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6EBA8D5-CA06-0BFA-DF22-4CD1B0133F2A}"/>
              </a:ext>
            </a:extLst>
          </p:cNvPr>
          <p:cNvSpPr txBox="1"/>
          <p:nvPr/>
        </p:nvSpPr>
        <p:spPr>
          <a:xfrm>
            <a:off x="2597452" y="1333390"/>
            <a:ext cx="1337443" cy="276999"/>
          </a:xfrm>
          <a:prstGeom prst="rect">
            <a:avLst/>
          </a:prstGeom>
          <a:noFill/>
        </p:spPr>
        <p:txBody>
          <a:bodyPr wrap="square" rtlCol="0">
            <a:spAutoFit/>
          </a:bodyPr>
          <a:lstStyle/>
          <a:p>
            <a:r>
              <a:rPr lang="en-US" sz="1200" b="1" dirty="0"/>
              <a:t>Departments</a:t>
            </a:r>
          </a:p>
        </p:txBody>
      </p:sp>
      <p:sp>
        <p:nvSpPr>
          <p:cNvPr id="25" name="TextBox 24">
            <a:extLst>
              <a:ext uri="{FF2B5EF4-FFF2-40B4-BE49-F238E27FC236}">
                <a16:creationId xmlns:a16="http://schemas.microsoft.com/office/drawing/2014/main" id="{B87A1DF5-315A-21AD-191E-B5CB8E6D530F}"/>
              </a:ext>
            </a:extLst>
          </p:cNvPr>
          <p:cNvSpPr txBox="1"/>
          <p:nvPr/>
        </p:nvSpPr>
        <p:spPr>
          <a:xfrm>
            <a:off x="2686232" y="1731313"/>
            <a:ext cx="1337443" cy="246221"/>
          </a:xfrm>
          <a:prstGeom prst="rect">
            <a:avLst/>
          </a:prstGeom>
          <a:noFill/>
        </p:spPr>
        <p:txBody>
          <a:bodyPr wrap="square" rtlCol="0">
            <a:spAutoFit/>
          </a:bodyPr>
          <a:lstStyle/>
          <a:p>
            <a:r>
              <a:rPr lang="en-US" sz="1000" b="1" dirty="0"/>
              <a:t>Gender</a:t>
            </a:r>
          </a:p>
        </p:txBody>
      </p:sp>
      <p:sp>
        <p:nvSpPr>
          <p:cNvPr id="26" name="TextBox 25">
            <a:extLst>
              <a:ext uri="{FF2B5EF4-FFF2-40B4-BE49-F238E27FC236}">
                <a16:creationId xmlns:a16="http://schemas.microsoft.com/office/drawing/2014/main" id="{382B65F0-C54B-56DC-1584-98B31175590E}"/>
              </a:ext>
            </a:extLst>
          </p:cNvPr>
          <p:cNvSpPr txBox="1"/>
          <p:nvPr/>
        </p:nvSpPr>
        <p:spPr>
          <a:xfrm>
            <a:off x="2686233" y="2583905"/>
            <a:ext cx="1337443" cy="246221"/>
          </a:xfrm>
          <a:prstGeom prst="rect">
            <a:avLst/>
          </a:prstGeom>
          <a:noFill/>
        </p:spPr>
        <p:txBody>
          <a:bodyPr wrap="square" rtlCol="0">
            <a:spAutoFit/>
          </a:bodyPr>
          <a:lstStyle/>
          <a:p>
            <a:r>
              <a:rPr lang="en-US" sz="1000" b="1" dirty="0"/>
              <a:t>Category</a:t>
            </a:r>
          </a:p>
        </p:txBody>
      </p:sp>
      <p:sp>
        <p:nvSpPr>
          <p:cNvPr id="27" name="TextBox 26">
            <a:extLst>
              <a:ext uri="{FF2B5EF4-FFF2-40B4-BE49-F238E27FC236}">
                <a16:creationId xmlns:a16="http://schemas.microsoft.com/office/drawing/2014/main" id="{B000D9D5-48D3-4F32-C6A4-43E315D129C2}"/>
              </a:ext>
            </a:extLst>
          </p:cNvPr>
          <p:cNvSpPr txBox="1"/>
          <p:nvPr/>
        </p:nvSpPr>
        <p:spPr>
          <a:xfrm>
            <a:off x="2674840" y="4042057"/>
            <a:ext cx="1337443" cy="246221"/>
          </a:xfrm>
          <a:prstGeom prst="rect">
            <a:avLst/>
          </a:prstGeom>
          <a:noFill/>
        </p:spPr>
        <p:txBody>
          <a:bodyPr wrap="square" rtlCol="0">
            <a:spAutoFit/>
          </a:bodyPr>
          <a:lstStyle/>
          <a:p>
            <a:r>
              <a:rPr lang="en-US" sz="1000" b="1" dirty="0"/>
              <a:t>Size</a:t>
            </a:r>
          </a:p>
        </p:txBody>
      </p:sp>
      <p:sp>
        <p:nvSpPr>
          <p:cNvPr id="28" name="TextBox 27">
            <a:extLst>
              <a:ext uri="{FF2B5EF4-FFF2-40B4-BE49-F238E27FC236}">
                <a16:creationId xmlns:a16="http://schemas.microsoft.com/office/drawing/2014/main" id="{5BBF00E9-8D78-AF15-C026-4989013F86FB}"/>
              </a:ext>
            </a:extLst>
          </p:cNvPr>
          <p:cNvSpPr txBox="1"/>
          <p:nvPr/>
        </p:nvSpPr>
        <p:spPr>
          <a:xfrm>
            <a:off x="2658201" y="5077844"/>
            <a:ext cx="1337443" cy="246221"/>
          </a:xfrm>
          <a:prstGeom prst="rect">
            <a:avLst/>
          </a:prstGeom>
          <a:noFill/>
        </p:spPr>
        <p:txBody>
          <a:bodyPr wrap="square" rtlCol="0">
            <a:spAutoFit/>
          </a:bodyPr>
          <a:lstStyle/>
          <a:p>
            <a:r>
              <a:rPr lang="en-US" sz="1000" b="1" dirty="0"/>
              <a:t>Colors</a:t>
            </a:r>
          </a:p>
        </p:txBody>
      </p:sp>
      <p:sp>
        <p:nvSpPr>
          <p:cNvPr id="31" name="TextBox 30">
            <a:extLst>
              <a:ext uri="{FF2B5EF4-FFF2-40B4-BE49-F238E27FC236}">
                <a16:creationId xmlns:a16="http://schemas.microsoft.com/office/drawing/2014/main" id="{10B3B694-47E7-0323-B612-CC327C5107FA}"/>
              </a:ext>
            </a:extLst>
          </p:cNvPr>
          <p:cNvSpPr txBox="1"/>
          <p:nvPr/>
        </p:nvSpPr>
        <p:spPr>
          <a:xfrm>
            <a:off x="2862712" y="1964100"/>
            <a:ext cx="806921" cy="246221"/>
          </a:xfrm>
          <a:prstGeom prst="rect">
            <a:avLst/>
          </a:prstGeom>
          <a:noFill/>
        </p:spPr>
        <p:txBody>
          <a:bodyPr wrap="square" rtlCol="0">
            <a:spAutoFit/>
          </a:bodyPr>
          <a:lstStyle/>
          <a:p>
            <a:r>
              <a:rPr lang="en-US" sz="1000" dirty="0"/>
              <a:t>Female</a:t>
            </a:r>
          </a:p>
        </p:txBody>
      </p:sp>
      <p:sp>
        <p:nvSpPr>
          <p:cNvPr id="32" name="TextBox 31">
            <a:extLst>
              <a:ext uri="{FF2B5EF4-FFF2-40B4-BE49-F238E27FC236}">
                <a16:creationId xmlns:a16="http://schemas.microsoft.com/office/drawing/2014/main" id="{857A7221-3A2A-C33A-DFEE-463F23B0AC88}"/>
              </a:ext>
            </a:extLst>
          </p:cNvPr>
          <p:cNvSpPr txBox="1"/>
          <p:nvPr/>
        </p:nvSpPr>
        <p:spPr>
          <a:xfrm>
            <a:off x="2871329" y="2228007"/>
            <a:ext cx="806921" cy="246221"/>
          </a:xfrm>
          <a:prstGeom prst="rect">
            <a:avLst/>
          </a:prstGeom>
          <a:noFill/>
        </p:spPr>
        <p:txBody>
          <a:bodyPr wrap="square" rtlCol="0">
            <a:spAutoFit/>
          </a:bodyPr>
          <a:lstStyle/>
          <a:p>
            <a:r>
              <a:rPr lang="en-US" sz="1000" dirty="0">
                <a:solidFill>
                  <a:schemeClr val="bg1">
                    <a:lumMod val="50000"/>
                  </a:schemeClr>
                </a:solidFill>
              </a:rPr>
              <a:t>Male</a:t>
            </a:r>
          </a:p>
        </p:txBody>
      </p:sp>
      <p:sp>
        <p:nvSpPr>
          <p:cNvPr id="33" name="Rectangle 32">
            <a:extLst>
              <a:ext uri="{FF2B5EF4-FFF2-40B4-BE49-F238E27FC236}">
                <a16:creationId xmlns:a16="http://schemas.microsoft.com/office/drawing/2014/main" id="{D81BE1AB-6EA9-47C7-910F-12ADD5EA77BE}"/>
              </a:ext>
            </a:extLst>
          </p:cNvPr>
          <p:cNvSpPr/>
          <p:nvPr/>
        </p:nvSpPr>
        <p:spPr>
          <a:xfrm>
            <a:off x="2779214" y="431033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34" name="Rectangle 33">
            <a:extLst>
              <a:ext uri="{FF2B5EF4-FFF2-40B4-BE49-F238E27FC236}">
                <a16:creationId xmlns:a16="http://schemas.microsoft.com/office/drawing/2014/main" id="{15732697-5878-5F5C-4498-6F4D78A74157}"/>
              </a:ext>
            </a:extLst>
          </p:cNvPr>
          <p:cNvSpPr/>
          <p:nvPr/>
        </p:nvSpPr>
        <p:spPr>
          <a:xfrm>
            <a:off x="2779213" y="4538751"/>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5" name="Isosceles Triangle 44">
            <a:extLst>
              <a:ext uri="{FF2B5EF4-FFF2-40B4-BE49-F238E27FC236}">
                <a16:creationId xmlns:a16="http://schemas.microsoft.com/office/drawing/2014/main" id="{1F58A058-AF2C-063D-96EC-70F1D61D17AF}"/>
              </a:ext>
            </a:extLst>
          </p:cNvPr>
          <p:cNvSpPr/>
          <p:nvPr/>
        </p:nvSpPr>
        <p:spPr>
          <a:xfrm rot="10800000">
            <a:off x="4121260" y="410720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7C9D45B1-C8E1-6191-FF65-13E8675E7182}"/>
              </a:ext>
            </a:extLst>
          </p:cNvPr>
          <p:cNvSpPr txBox="1"/>
          <p:nvPr/>
        </p:nvSpPr>
        <p:spPr>
          <a:xfrm>
            <a:off x="2912157" y="2875534"/>
            <a:ext cx="806921" cy="246221"/>
          </a:xfrm>
          <a:prstGeom prst="rect">
            <a:avLst/>
          </a:prstGeom>
          <a:noFill/>
        </p:spPr>
        <p:txBody>
          <a:bodyPr wrap="square" rtlCol="0">
            <a:spAutoFit/>
          </a:bodyPr>
          <a:lstStyle/>
          <a:p>
            <a:r>
              <a:rPr lang="en-US" sz="1000" dirty="0">
                <a:solidFill>
                  <a:schemeClr val="bg1">
                    <a:lumMod val="50000"/>
                  </a:schemeClr>
                </a:solidFill>
              </a:rPr>
              <a:t>Bottoms </a:t>
            </a:r>
          </a:p>
        </p:txBody>
      </p:sp>
      <p:sp>
        <p:nvSpPr>
          <p:cNvPr id="47" name="TextBox 46">
            <a:extLst>
              <a:ext uri="{FF2B5EF4-FFF2-40B4-BE49-F238E27FC236}">
                <a16:creationId xmlns:a16="http://schemas.microsoft.com/office/drawing/2014/main" id="{8A4E18DF-1F99-65EB-12AC-4C7D5BD5CE0D}"/>
              </a:ext>
            </a:extLst>
          </p:cNvPr>
          <p:cNvSpPr txBox="1"/>
          <p:nvPr/>
        </p:nvSpPr>
        <p:spPr>
          <a:xfrm>
            <a:off x="2912157" y="3138427"/>
            <a:ext cx="806921" cy="246221"/>
          </a:xfrm>
          <a:prstGeom prst="rect">
            <a:avLst/>
          </a:prstGeom>
          <a:noFill/>
        </p:spPr>
        <p:txBody>
          <a:bodyPr wrap="square" rtlCol="0">
            <a:spAutoFit/>
          </a:bodyPr>
          <a:lstStyle/>
          <a:p>
            <a:r>
              <a:rPr lang="en-US" sz="1000" dirty="0"/>
              <a:t>Dresses</a:t>
            </a:r>
          </a:p>
        </p:txBody>
      </p:sp>
      <p:sp>
        <p:nvSpPr>
          <p:cNvPr id="48" name="TextBox 47">
            <a:extLst>
              <a:ext uri="{FF2B5EF4-FFF2-40B4-BE49-F238E27FC236}">
                <a16:creationId xmlns:a16="http://schemas.microsoft.com/office/drawing/2014/main" id="{55DD628C-57F7-7D72-F340-59D739B07913}"/>
              </a:ext>
            </a:extLst>
          </p:cNvPr>
          <p:cNvSpPr txBox="1"/>
          <p:nvPr/>
        </p:nvSpPr>
        <p:spPr>
          <a:xfrm>
            <a:off x="2912157" y="3401320"/>
            <a:ext cx="806921" cy="246221"/>
          </a:xfrm>
          <a:prstGeom prst="rect">
            <a:avLst/>
          </a:prstGeom>
          <a:noFill/>
        </p:spPr>
        <p:txBody>
          <a:bodyPr wrap="square" rtlCol="0">
            <a:spAutoFit/>
          </a:bodyPr>
          <a:lstStyle/>
          <a:p>
            <a:r>
              <a:rPr lang="en-US" sz="1000" dirty="0">
                <a:solidFill>
                  <a:schemeClr val="bg1">
                    <a:lumMod val="50000"/>
                  </a:schemeClr>
                </a:solidFill>
              </a:rPr>
              <a:t>Outwear</a:t>
            </a:r>
          </a:p>
        </p:txBody>
      </p:sp>
      <p:sp>
        <p:nvSpPr>
          <p:cNvPr id="49" name="TextBox 48">
            <a:extLst>
              <a:ext uri="{FF2B5EF4-FFF2-40B4-BE49-F238E27FC236}">
                <a16:creationId xmlns:a16="http://schemas.microsoft.com/office/drawing/2014/main" id="{15464B52-E1F5-7D42-B99B-019BAC54AF58}"/>
              </a:ext>
            </a:extLst>
          </p:cNvPr>
          <p:cNvSpPr txBox="1"/>
          <p:nvPr/>
        </p:nvSpPr>
        <p:spPr>
          <a:xfrm>
            <a:off x="2912157" y="3664212"/>
            <a:ext cx="806921" cy="246221"/>
          </a:xfrm>
          <a:prstGeom prst="rect">
            <a:avLst/>
          </a:prstGeom>
          <a:noFill/>
        </p:spPr>
        <p:txBody>
          <a:bodyPr wrap="square" rtlCol="0">
            <a:spAutoFit/>
          </a:bodyPr>
          <a:lstStyle/>
          <a:p>
            <a:r>
              <a:rPr lang="en-US" sz="1000" dirty="0">
                <a:solidFill>
                  <a:schemeClr val="bg1">
                    <a:lumMod val="50000"/>
                  </a:schemeClr>
                </a:solidFill>
              </a:rPr>
              <a:t>Tops</a:t>
            </a:r>
          </a:p>
        </p:txBody>
      </p:sp>
      <p:sp>
        <p:nvSpPr>
          <p:cNvPr id="50" name="Rectangle 49">
            <a:extLst>
              <a:ext uri="{FF2B5EF4-FFF2-40B4-BE49-F238E27FC236}">
                <a16:creationId xmlns:a16="http://schemas.microsoft.com/office/drawing/2014/main" id="{7F3A05DB-CFD4-9755-ACD3-EC71C1DDFFEA}"/>
              </a:ext>
            </a:extLst>
          </p:cNvPr>
          <p:cNvSpPr/>
          <p:nvPr/>
        </p:nvSpPr>
        <p:spPr>
          <a:xfrm rot="10800000" flipH="1" flipV="1">
            <a:off x="4951546" y="260122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1" name="Rectangle 50">
            <a:extLst>
              <a:ext uri="{FF2B5EF4-FFF2-40B4-BE49-F238E27FC236}">
                <a16:creationId xmlns:a16="http://schemas.microsoft.com/office/drawing/2014/main" id="{8EB12B0C-5DE0-F059-1879-1BB0DAFADAB1}"/>
              </a:ext>
            </a:extLst>
          </p:cNvPr>
          <p:cNvSpPr/>
          <p:nvPr/>
        </p:nvSpPr>
        <p:spPr>
          <a:xfrm rot="10800000" flipH="1" flipV="1">
            <a:off x="6126714" y="260122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2" name="Rectangle 51">
            <a:extLst>
              <a:ext uri="{FF2B5EF4-FFF2-40B4-BE49-F238E27FC236}">
                <a16:creationId xmlns:a16="http://schemas.microsoft.com/office/drawing/2014/main" id="{60C35089-8AE0-4E78-5529-3969A5E97688}"/>
              </a:ext>
            </a:extLst>
          </p:cNvPr>
          <p:cNvSpPr/>
          <p:nvPr/>
        </p:nvSpPr>
        <p:spPr>
          <a:xfrm rot="10800000" flipH="1" flipV="1">
            <a:off x="7314922" y="2610138"/>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3" name="TextBox 52">
            <a:extLst>
              <a:ext uri="{FF2B5EF4-FFF2-40B4-BE49-F238E27FC236}">
                <a16:creationId xmlns:a16="http://schemas.microsoft.com/office/drawing/2014/main" id="{6935A556-516C-6DC2-FAEF-BD7EF19A79AB}"/>
              </a:ext>
            </a:extLst>
          </p:cNvPr>
          <p:cNvSpPr txBox="1"/>
          <p:nvPr/>
        </p:nvSpPr>
        <p:spPr>
          <a:xfrm>
            <a:off x="4906531" y="3752146"/>
            <a:ext cx="813167" cy="400110"/>
          </a:xfrm>
          <a:prstGeom prst="rect">
            <a:avLst/>
          </a:prstGeom>
          <a:noFill/>
        </p:spPr>
        <p:txBody>
          <a:bodyPr wrap="square" rtlCol="0">
            <a:spAutoFit/>
          </a:bodyPr>
          <a:lstStyle/>
          <a:p>
            <a:r>
              <a:rPr lang="en-US" sz="1000" dirty="0"/>
              <a:t>Title</a:t>
            </a:r>
          </a:p>
          <a:p>
            <a:r>
              <a:rPr lang="en-US" sz="1000" dirty="0"/>
              <a:t>$price</a:t>
            </a:r>
          </a:p>
        </p:txBody>
      </p:sp>
      <p:sp>
        <p:nvSpPr>
          <p:cNvPr id="54" name="TextBox 53">
            <a:extLst>
              <a:ext uri="{FF2B5EF4-FFF2-40B4-BE49-F238E27FC236}">
                <a16:creationId xmlns:a16="http://schemas.microsoft.com/office/drawing/2014/main" id="{C117750C-1A89-0CD1-6BF6-74578CB8A700}"/>
              </a:ext>
            </a:extLst>
          </p:cNvPr>
          <p:cNvSpPr txBox="1"/>
          <p:nvPr/>
        </p:nvSpPr>
        <p:spPr>
          <a:xfrm>
            <a:off x="6139754" y="3752146"/>
            <a:ext cx="813167" cy="400110"/>
          </a:xfrm>
          <a:prstGeom prst="rect">
            <a:avLst/>
          </a:prstGeom>
          <a:noFill/>
        </p:spPr>
        <p:txBody>
          <a:bodyPr wrap="square" rtlCol="0">
            <a:spAutoFit/>
          </a:bodyPr>
          <a:lstStyle/>
          <a:p>
            <a:r>
              <a:rPr lang="en-US" sz="1000" dirty="0"/>
              <a:t>Title</a:t>
            </a:r>
          </a:p>
          <a:p>
            <a:r>
              <a:rPr lang="en-US" sz="1000" dirty="0"/>
              <a:t>$price</a:t>
            </a:r>
          </a:p>
        </p:txBody>
      </p:sp>
      <p:sp>
        <p:nvSpPr>
          <p:cNvPr id="55" name="TextBox 54">
            <a:extLst>
              <a:ext uri="{FF2B5EF4-FFF2-40B4-BE49-F238E27FC236}">
                <a16:creationId xmlns:a16="http://schemas.microsoft.com/office/drawing/2014/main" id="{644C693D-5767-4425-EDE6-8001F2A77987}"/>
              </a:ext>
            </a:extLst>
          </p:cNvPr>
          <p:cNvSpPr txBox="1"/>
          <p:nvPr/>
        </p:nvSpPr>
        <p:spPr>
          <a:xfrm>
            <a:off x="7372977" y="3780267"/>
            <a:ext cx="813167" cy="400110"/>
          </a:xfrm>
          <a:prstGeom prst="rect">
            <a:avLst/>
          </a:prstGeom>
          <a:noFill/>
        </p:spPr>
        <p:txBody>
          <a:bodyPr wrap="square" rtlCol="0">
            <a:spAutoFit/>
          </a:bodyPr>
          <a:lstStyle/>
          <a:p>
            <a:r>
              <a:rPr lang="en-US" sz="1000" dirty="0"/>
              <a:t>Title</a:t>
            </a:r>
          </a:p>
          <a:p>
            <a:r>
              <a:rPr lang="en-US" sz="1000" dirty="0"/>
              <a:t>$price</a:t>
            </a:r>
          </a:p>
        </p:txBody>
      </p:sp>
      <p:sp>
        <p:nvSpPr>
          <p:cNvPr id="56" name="Rectangle 55">
            <a:extLst>
              <a:ext uri="{FF2B5EF4-FFF2-40B4-BE49-F238E27FC236}">
                <a16:creationId xmlns:a16="http://schemas.microsoft.com/office/drawing/2014/main" id="{D3DBDA35-2888-34C6-DDDF-97F837D5B7F4}"/>
              </a:ext>
            </a:extLst>
          </p:cNvPr>
          <p:cNvSpPr/>
          <p:nvPr/>
        </p:nvSpPr>
        <p:spPr>
          <a:xfrm rot="10800000" flipH="1" flipV="1">
            <a:off x="4951546" y="433692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7" name="Rectangle 56">
            <a:extLst>
              <a:ext uri="{FF2B5EF4-FFF2-40B4-BE49-F238E27FC236}">
                <a16:creationId xmlns:a16="http://schemas.microsoft.com/office/drawing/2014/main" id="{AC69A6D3-7103-2875-E7C1-59DD31387D0C}"/>
              </a:ext>
            </a:extLst>
          </p:cNvPr>
          <p:cNvSpPr/>
          <p:nvPr/>
        </p:nvSpPr>
        <p:spPr>
          <a:xfrm rot="10800000" flipH="1" flipV="1">
            <a:off x="6126714" y="433692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8" name="Rectangle 57">
            <a:extLst>
              <a:ext uri="{FF2B5EF4-FFF2-40B4-BE49-F238E27FC236}">
                <a16:creationId xmlns:a16="http://schemas.microsoft.com/office/drawing/2014/main" id="{CDE26CD4-7E9A-A1C7-664E-F94ABD7BF392}"/>
              </a:ext>
            </a:extLst>
          </p:cNvPr>
          <p:cNvSpPr/>
          <p:nvPr/>
        </p:nvSpPr>
        <p:spPr>
          <a:xfrm rot="10800000" flipH="1" flipV="1">
            <a:off x="7314922" y="434583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59" name="TextBox 58">
            <a:extLst>
              <a:ext uri="{FF2B5EF4-FFF2-40B4-BE49-F238E27FC236}">
                <a16:creationId xmlns:a16="http://schemas.microsoft.com/office/drawing/2014/main" id="{71CA4006-3746-AEC2-2951-698B4565D07C}"/>
              </a:ext>
            </a:extLst>
          </p:cNvPr>
          <p:cNvSpPr txBox="1"/>
          <p:nvPr/>
        </p:nvSpPr>
        <p:spPr>
          <a:xfrm>
            <a:off x="4906531" y="5487847"/>
            <a:ext cx="813167" cy="400110"/>
          </a:xfrm>
          <a:prstGeom prst="rect">
            <a:avLst/>
          </a:prstGeom>
          <a:noFill/>
        </p:spPr>
        <p:txBody>
          <a:bodyPr wrap="square" rtlCol="0">
            <a:spAutoFit/>
          </a:bodyPr>
          <a:lstStyle/>
          <a:p>
            <a:r>
              <a:rPr lang="en-US" sz="1000" dirty="0"/>
              <a:t>Title</a:t>
            </a:r>
          </a:p>
          <a:p>
            <a:r>
              <a:rPr lang="en-US" sz="1000" dirty="0"/>
              <a:t>$price</a:t>
            </a:r>
          </a:p>
        </p:txBody>
      </p:sp>
      <p:sp>
        <p:nvSpPr>
          <p:cNvPr id="60" name="TextBox 59">
            <a:extLst>
              <a:ext uri="{FF2B5EF4-FFF2-40B4-BE49-F238E27FC236}">
                <a16:creationId xmlns:a16="http://schemas.microsoft.com/office/drawing/2014/main" id="{CEB1C5D4-36AE-DC65-63B9-A6DBA40BB7BE}"/>
              </a:ext>
            </a:extLst>
          </p:cNvPr>
          <p:cNvSpPr txBox="1"/>
          <p:nvPr/>
        </p:nvSpPr>
        <p:spPr>
          <a:xfrm>
            <a:off x="6139754" y="5487847"/>
            <a:ext cx="813167" cy="400110"/>
          </a:xfrm>
          <a:prstGeom prst="rect">
            <a:avLst/>
          </a:prstGeom>
          <a:noFill/>
        </p:spPr>
        <p:txBody>
          <a:bodyPr wrap="square" rtlCol="0">
            <a:spAutoFit/>
          </a:bodyPr>
          <a:lstStyle/>
          <a:p>
            <a:r>
              <a:rPr lang="en-US" sz="1000" dirty="0"/>
              <a:t>Title</a:t>
            </a:r>
          </a:p>
          <a:p>
            <a:r>
              <a:rPr lang="en-US" sz="1000" dirty="0"/>
              <a:t>$price</a:t>
            </a:r>
          </a:p>
        </p:txBody>
      </p:sp>
      <p:sp>
        <p:nvSpPr>
          <p:cNvPr id="61" name="TextBox 60">
            <a:extLst>
              <a:ext uri="{FF2B5EF4-FFF2-40B4-BE49-F238E27FC236}">
                <a16:creationId xmlns:a16="http://schemas.microsoft.com/office/drawing/2014/main" id="{8292C338-07CA-1491-AC7C-8C37C1320D64}"/>
              </a:ext>
            </a:extLst>
          </p:cNvPr>
          <p:cNvSpPr txBox="1"/>
          <p:nvPr/>
        </p:nvSpPr>
        <p:spPr>
          <a:xfrm>
            <a:off x="7372977" y="5515968"/>
            <a:ext cx="813167" cy="400110"/>
          </a:xfrm>
          <a:prstGeom prst="rect">
            <a:avLst/>
          </a:prstGeom>
          <a:noFill/>
        </p:spPr>
        <p:txBody>
          <a:bodyPr wrap="square" rtlCol="0">
            <a:spAutoFit/>
          </a:bodyPr>
          <a:lstStyle/>
          <a:p>
            <a:r>
              <a:rPr lang="en-US" sz="1000" dirty="0"/>
              <a:t>Title</a:t>
            </a:r>
          </a:p>
          <a:p>
            <a:r>
              <a:rPr lang="en-US" sz="1000" dirty="0"/>
              <a:t>$price</a:t>
            </a:r>
          </a:p>
        </p:txBody>
      </p:sp>
      <p:sp>
        <p:nvSpPr>
          <p:cNvPr id="62" name="Rectangle 61">
            <a:extLst>
              <a:ext uri="{FF2B5EF4-FFF2-40B4-BE49-F238E27FC236}">
                <a16:creationId xmlns:a16="http://schemas.microsoft.com/office/drawing/2014/main" id="{BE69CC91-1D66-A670-67C2-CCB0EC1F80D5}"/>
              </a:ext>
            </a:extLst>
          </p:cNvPr>
          <p:cNvSpPr/>
          <p:nvPr/>
        </p:nvSpPr>
        <p:spPr>
          <a:xfrm>
            <a:off x="7082374" y="1376852"/>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05815B0E-BA16-2800-070F-938B0D6C97FF}"/>
              </a:ext>
            </a:extLst>
          </p:cNvPr>
          <p:cNvSpPr/>
          <p:nvPr/>
        </p:nvSpPr>
        <p:spPr>
          <a:xfrm rot="10800000">
            <a:off x="8004026" y="1470188"/>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TextBox 63">
            <a:extLst>
              <a:ext uri="{FF2B5EF4-FFF2-40B4-BE49-F238E27FC236}">
                <a16:creationId xmlns:a16="http://schemas.microsoft.com/office/drawing/2014/main" id="{9112B85C-0E69-8A08-857D-348537AFAD31}"/>
              </a:ext>
            </a:extLst>
          </p:cNvPr>
          <p:cNvSpPr txBox="1"/>
          <p:nvPr/>
        </p:nvSpPr>
        <p:spPr>
          <a:xfrm>
            <a:off x="7082374" y="1367425"/>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Product Name</a:t>
            </a:r>
          </a:p>
        </p:txBody>
      </p:sp>
      <p:sp>
        <p:nvSpPr>
          <p:cNvPr id="65" name="TextBox 64">
            <a:extLst>
              <a:ext uri="{FF2B5EF4-FFF2-40B4-BE49-F238E27FC236}">
                <a16:creationId xmlns:a16="http://schemas.microsoft.com/office/drawing/2014/main" id="{07D10612-7640-94BE-6550-55AB4BAFAE16}"/>
              </a:ext>
            </a:extLst>
          </p:cNvPr>
          <p:cNvSpPr txBox="1"/>
          <p:nvPr/>
        </p:nvSpPr>
        <p:spPr>
          <a:xfrm>
            <a:off x="6660955" y="1376852"/>
            <a:ext cx="720608" cy="246221"/>
          </a:xfrm>
          <a:prstGeom prst="rect">
            <a:avLst/>
          </a:prstGeom>
          <a:noFill/>
        </p:spPr>
        <p:txBody>
          <a:bodyPr wrap="square" rtlCol="0">
            <a:spAutoFit/>
          </a:bodyPr>
          <a:lstStyle/>
          <a:p>
            <a:r>
              <a:rPr lang="en-US" sz="1000" dirty="0"/>
              <a:t>Sort</a:t>
            </a:r>
          </a:p>
        </p:txBody>
      </p:sp>
      <p:sp>
        <p:nvSpPr>
          <p:cNvPr id="66" name="Isosceles Triangle 65">
            <a:extLst>
              <a:ext uri="{FF2B5EF4-FFF2-40B4-BE49-F238E27FC236}">
                <a16:creationId xmlns:a16="http://schemas.microsoft.com/office/drawing/2014/main" id="{361B9195-9328-350D-9ECF-DBC1D1CE9EC5}"/>
              </a:ext>
            </a:extLst>
          </p:cNvPr>
          <p:cNvSpPr/>
          <p:nvPr/>
        </p:nvSpPr>
        <p:spPr>
          <a:xfrm rot="10800000">
            <a:off x="4098145" y="2672081"/>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Isosceles Triangle 66">
            <a:extLst>
              <a:ext uri="{FF2B5EF4-FFF2-40B4-BE49-F238E27FC236}">
                <a16:creationId xmlns:a16="http://schemas.microsoft.com/office/drawing/2014/main" id="{AA790CFB-03A0-76F4-E8A6-D0EBC29AB94D}"/>
              </a:ext>
            </a:extLst>
          </p:cNvPr>
          <p:cNvSpPr/>
          <p:nvPr/>
        </p:nvSpPr>
        <p:spPr>
          <a:xfrm rot="10800000">
            <a:off x="4098144" y="183468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TextBox 67">
            <a:extLst>
              <a:ext uri="{FF2B5EF4-FFF2-40B4-BE49-F238E27FC236}">
                <a16:creationId xmlns:a16="http://schemas.microsoft.com/office/drawing/2014/main" id="{1B6FA47E-3C14-5D73-558D-60C47885095E}"/>
              </a:ext>
            </a:extLst>
          </p:cNvPr>
          <p:cNvSpPr txBox="1"/>
          <p:nvPr/>
        </p:nvSpPr>
        <p:spPr>
          <a:xfrm>
            <a:off x="2984115" y="4255239"/>
            <a:ext cx="806921" cy="246221"/>
          </a:xfrm>
          <a:prstGeom prst="rect">
            <a:avLst/>
          </a:prstGeom>
          <a:noFill/>
        </p:spPr>
        <p:txBody>
          <a:bodyPr wrap="square" rtlCol="0">
            <a:spAutoFit/>
          </a:bodyPr>
          <a:lstStyle/>
          <a:p>
            <a:r>
              <a:rPr lang="en-US" sz="1000" dirty="0"/>
              <a:t>Small </a:t>
            </a:r>
          </a:p>
        </p:txBody>
      </p:sp>
      <p:sp>
        <p:nvSpPr>
          <p:cNvPr id="69" name="TextBox 68">
            <a:extLst>
              <a:ext uri="{FF2B5EF4-FFF2-40B4-BE49-F238E27FC236}">
                <a16:creationId xmlns:a16="http://schemas.microsoft.com/office/drawing/2014/main" id="{FDF571CC-8D84-91EB-2A58-5BB4BFC8B466}"/>
              </a:ext>
            </a:extLst>
          </p:cNvPr>
          <p:cNvSpPr txBox="1"/>
          <p:nvPr/>
        </p:nvSpPr>
        <p:spPr>
          <a:xfrm>
            <a:off x="2997156" y="4485134"/>
            <a:ext cx="806921" cy="246221"/>
          </a:xfrm>
          <a:prstGeom prst="rect">
            <a:avLst/>
          </a:prstGeom>
          <a:noFill/>
        </p:spPr>
        <p:txBody>
          <a:bodyPr wrap="square" rtlCol="0">
            <a:spAutoFit/>
          </a:bodyPr>
          <a:lstStyle/>
          <a:p>
            <a:r>
              <a:rPr lang="en-US" sz="1000" dirty="0">
                <a:solidFill>
                  <a:schemeClr val="bg1">
                    <a:lumMod val="50000"/>
                  </a:schemeClr>
                </a:solidFill>
              </a:rPr>
              <a:t>Medium </a:t>
            </a:r>
          </a:p>
        </p:txBody>
      </p:sp>
      <p:sp>
        <p:nvSpPr>
          <p:cNvPr id="70" name="Rectangle 69">
            <a:extLst>
              <a:ext uri="{FF2B5EF4-FFF2-40B4-BE49-F238E27FC236}">
                <a16:creationId xmlns:a16="http://schemas.microsoft.com/office/drawing/2014/main" id="{A25C5726-62EF-EBA9-C96B-47E14A388EC5}"/>
              </a:ext>
            </a:extLst>
          </p:cNvPr>
          <p:cNvSpPr/>
          <p:nvPr/>
        </p:nvSpPr>
        <p:spPr>
          <a:xfrm>
            <a:off x="2808617" y="5372495"/>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71" name="Rectangle 70">
            <a:extLst>
              <a:ext uri="{FF2B5EF4-FFF2-40B4-BE49-F238E27FC236}">
                <a16:creationId xmlns:a16="http://schemas.microsoft.com/office/drawing/2014/main" id="{2E7209C4-AB0E-CA09-8DEA-98A5D4CEABAE}"/>
              </a:ext>
            </a:extLst>
          </p:cNvPr>
          <p:cNvSpPr/>
          <p:nvPr/>
        </p:nvSpPr>
        <p:spPr>
          <a:xfrm>
            <a:off x="2808616" y="5608282"/>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2" name="TextBox 71">
            <a:extLst>
              <a:ext uri="{FF2B5EF4-FFF2-40B4-BE49-F238E27FC236}">
                <a16:creationId xmlns:a16="http://schemas.microsoft.com/office/drawing/2014/main" id="{E2306817-AC2D-617E-5D03-296BCE14FBA4}"/>
              </a:ext>
            </a:extLst>
          </p:cNvPr>
          <p:cNvSpPr txBox="1"/>
          <p:nvPr/>
        </p:nvSpPr>
        <p:spPr>
          <a:xfrm>
            <a:off x="3013518" y="5324770"/>
            <a:ext cx="806921" cy="246221"/>
          </a:xfrm>
          <a:prstGeom prst="rect">
            <a:avLst/>
          </a:prstGeom>
          <a:noFill/>
        </p:spPr>
        <p:txBody>
          <a:bodyPr wrap="square" rtlCol="0">
            <a:spAutoFit/>
          </a:bodyPr>
          <a:lstStyle/>
          <a:p>
            <a:r>
              <a:rPr lang="en-US" sz="1000" dirty="0"/>
              <a:t>Beige </a:t>
            </a:r>
          </a:p>
        </p:txBody>
      </p:sp>
      <p:sp>
        <p:nvSpPr>
          <p:cNvPr id="73" name="TextBox 72">
            <a:extLst>
              <a:ext uri="{FF2B5EF4-FFF2-40B4-BE49-F238E27FC236}">
                <a16:creationId xmlns:a16="http://schemas.microsoft.com/office/drawing/2014/main" id="{6DDA10AC-E424-253F-60C0-07F7480AFD01}"/>
              </a:ext>
            </a:extLst>
          </p:cNvPr>
          <p:cNvSpPr txBox="1"/>
          <p:nvPr/>
        </p:nvSpPr>
        <p:spPr>
          <a:xfrm>
            <a:off x="3026559" y="5554665"/>
            <a:ext cx="806921" cy="246221"/>
          </a:xfrm>
          <a:prstGeom prst="rect">
            <a:avLst/>
          </a:prstGeom>
          <a:noFill/>
        </p:spPr>
        <p:txBody>
          <a:bodyPr wrap="square" rtlCol="0">
            <a:spAutoFit/>
          </a:bodyPr>
          <a:lstStyle/>
          <a:p>
            <a:r>
              <a:rPr lang="en-US" sz="1000" dirty="0">
                <a:solidFill>
                  <a:schemeClr val="bg1">
                    <a:lumMod val="50000"/>
                  </a:schemeClr>
                </a:solidFill>
              </a:rPr>
              <a:t>Black </a:t>
            </a:r>
          </a:p>
        </p:txBody>
      </p:sp>
      <p:sp>
        <p:nvSpPr>
          <p:cNvPr id="75" name="TextBox 74">
            <a:extLst>
              <a:ext uri="{FF2B5EF4-FFF2-40B4-BE49-F238E27FC236}">
                <a16:creationId xmlns:a16="http://schemas.microsoft.com/office/drawing/2014/main" id="{6827F050-DAEB-EC61-DD78-B7540161D0B4}"/>
              </a:ext>
            </a:extLst>
          </p:cNvPr>
          <p:cNvSpPr txBox="1"/>
          <p:nvPr/>
        </p:nvSpPr>
        <p:spPr>
          <a:xfrm>
            <a:off x="3026559" y="5805387"/>
            <a:ext cx="806921" cy="246221"/>
          </a:xfrm>
          <a:prstGeom prst="rect">
            <a:avLst/>
          </a:prstGeom>
          <a:noFill/>
        </p:spPr>
        <p:txBody>
          <a:bodyPr wrap="square" rtlCol="0">
            <a:spAutoFit/>
          </a:bodyPr>
          <a:lstStyle/>
          <a:p>
            <a:r>
              <a:rPr lang="en-US" sz="1000" dirty="0"/>
              <a:t>Blue</a:t>
            </a:r>
            <a:r>
              <a:rPr lang="en-US" sz="1000" dirty="0">
                <a:solidFill>
                  <a:schemeClr val="bg1">
                    <a:lumMod val="50000"/>
                  </a:schemeClr>
                </a:solidFill>
              </a:rPr>
              <a:t> </a:t>
            </a:r>
          </a:p>
        </p:txBody>
      </p:sp>
      <p:sp>
        <p:nvSpPr>
          <p:cNvPr id="76" name="Rectangle 75">
            <a:extLst>
              <a:ext uri="{FF2B5EF4-FFF2-40B4-BE49-F238E27FC236}">
                <a16:creationId xmlns:a16="http://schemas.microsoft.com/office/drawing/2014/main" id="{7B734429-1509-E4CD-9A15-090EE54FE278}"/>
              </a:ext>
            </a:extLst>
          </p:cNvPr>
          <p:cNvSpPr/>
          <p:nvPr/>
        </p:nvSpPr>
        <p:spPr>
          <a:xfrm>
            <a:off x="3589321" y="5386900"/>
            <a:ext cx="166998" cy="15854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7" name="Rectangle 76">
            <a:extLst>
              <a:ext uri="{FF2B5EF4-FFF2-40B4-BE49-F238E27FC236}">
                <a16:creationId xmlns:a16="http://schemas.microsoft.com/office/drawing/2014/main" id="{0697BC79-C3E3-600D-63B0-7C4087C9055D}"/>
              </a:ext>
            </a:extLst>
          </p:cNvPr>
          <p:cNvSpPr/>
          <p:nvPr/>
        </p:nvSpPr>
        <p:spPr>
          <a:xfrm>
            <a:off x="3589321" y="5615890"/>
            <a:ext cx="166998" cy="1585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8" name="Rectangle 77">
            <a:extLst>
              <a:ext uri="{FF2B5EF4-FFF2-40B4-BE49-F238E27FC236}">
                <a16:creationId xmlns:a16="http://schemas.microsoft.com/office/drawing/2014/main" id="{FE3F3B62-8129-736D-94C7-A9EF1CAD25EC}"/>
              </a:ext>
            </a:extLst>
          </p:cNvPr>
          <p:cNvSpPr/>
          <p:nvPr/>
        </p:nvSpPr>
        <p:spPr>
          <a:xfrm>
            <a:off x="3589321" y="5837162"/>
            <a:ext cx="166998" cy="1585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9" name="TextBox 78">
            <a:extLst>
              <a:ext uri="{FF2B5EF4-FFF2-40B4-BE49-F238E27FC236}">
                <a16:creationId xmlns:a16="http://schemas.microsoft.com/office/drawing/2014/main" id="{A0597AEC-98A5-2358-FEE5-8E640A394FF1}"/>
              </a:ext>
            </a:extLst>
          </p:cNvPr>
          <p:cNvSpPr txBox="1"/>
          <p:nvPr/>
        </p:nvSpPr>
        <p:spPr>
          <a:xfrm>
            <a:off x="5862153" y="1716734"/>
            <a:ext cx="655681" cy="246221"/>
          </a:xfrm>
          <a:prstGeom prst="rect">
            <a:avLst/>
          </a:prstGeom>
          <a:noFill/>
        </p:spPr>
        <p:txBody>
          <a:bodyPr wrap="square" rtlCol="0">
            <a:spAutoFit/>
          </a:bodyPr>
          <a:lstStyle/>
          <a:p>
            <a:r>
              <a:rPr lang="en-US" sz="1000" b="1" dirty="0"/>
              <a:t>Results</a:t>
            </a:r>
          </a:p>
        </p:txBody>
      </p:sp>
      <p:sp>
        <p:nvSpPr>
          <p:cNvPr id="80" name="TextBox 79">
            <a:extLst>
              <a:ext uri="{FF2B5EF4-FFF2-40B4-BE49-F238E27FC236}">
                <a16:creationId xmlns:a16="http://schemas.microsoft.com/office/drawing/2014/main" id="{5DF1D351-296F-A969-FED2-239EA783C3EA}"/>
              </a:ext>
            </a:extLst>
          </p:cNvPr>
          <p:cNvSpPr txBox="1"/>
          <p:nvPr/>
        </p:nvSpPr>
        <p:spPr>
          <a:xfrm>
            <a:off x="5707806"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Dresses</a:t>
            </a:r>
          </a:p>
        </p:txBody>
      </p:sp>
      <p:sp>
        <p:nvSpPr>
          <p:cNvPr id="81" name="TextBox 80">
            <a:extLst>
              <a:ext uri="{FF2B5EF4-FFF2-40B4-BE49-F238E27FC236}">
                <a16:creationId xmlns:a16="http://schemas.microsoft.com/office/drawing/2014/main" id="{AE65026D-2633-6475-CA58-780745FAA437}"/>
              </a:ext>
            </a:extLst>
          </p:cNvPr>
          <p:cNvSpPr txBox="1"/>
          <p:nvPr/>
        </p:nvSpPr>
        <p:spPr>
          <a:xfrm>
            <a:off x="5083377"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Female</a:t>
            </a:r>
          </a:p>
        </p:txBody>
      </p:sp>
      <p:sp>
        <p:nvSpPr>
          <p:cNvPr id="82" name="TextBox 81">
            <a:extLst>
              <a:ext uri="{FF2B5EF4-FFF2-40B4-BE49-F238E27FC236}">
                <a16:creationId xmlns:a16="http://schemas.microsoft.com/office/drawing/2014/main" id="{68BECFD9-47FA-C5C7-787B-850DD1B60E0F}"/>
              </a:ext>
            </a:extLst>
          </p:cNvPr>
          <p:cNvSpPr txBox="1"/>
          <p:nvPr/>
        </p:nvSpPr>
        <p:spPr>
          <a:xfrm>
            <a:off x="6342857" y="2086511"/>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Small</a:t>
            </a:r>
          </a:p>
        </p:txBody>
      </p:sp>
      <p:sp>
        <p:nvSpPr>
          <p:cNvPr id="83" name="TextBox 82">
            <a:extLst>
              <a:ext uri="{FF2B5EF4-FFF2-40B4-BE49-F238E27FC236}">
                <a16:creationId xmlns:a16="http://schemas.microsoft.com/office/drawing/2014/main" id="{5737850B-4175-002B-D058-4BA9E7E4059C}"/>
              </a:ext>
            </a:extLst>
          </p:cNvPr>
          <p:cNvSpPr txBox="1"/>
          <p:nvPr/>
        </p:nvSpPr>
        <p:spPr>
          <a:xfrm>
            <a:off x="6967286"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Beige</a:t>
            </a:r>
          </a:p>
        </p:txBody>
      </p:sp>
      <p:sp>
        <p:nvSpPr>
          <p:cNvPr id="84" name="Rectangle 83">
            <a:extLst>
              <a:ext uri="{FF2B5EF4-FFF2-40B4-BE49-F238E27FC236}">
                <a16:creationId xmlns:a16="http://schemas.microsoft.com/office/drawing/2014/main" id="{6FAB30FD-9F48-BE53-2C57-93754C1EBD69}"/>
              </a:ext>
            </a:extLst>
          </p:cNvPr>
          <p:cNvSpPr/>
          <p:nvPr/>
        </p:nvSpPr>
        <p:spPr>
          <a:xfrm>
            <a:off x="2801954" y="5853752"/>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85" name="TextBox 84">
            <a:extLst>
              <a:ext uri="{FF2B5EF4-FFF2-40B4-BE49-F238E27FC236}">
                <a16:creationId xmlns:a16="http://schemas.microsoft.com/office/drawing/2014/main" id="{085F5B34-8E64-1488-FA6A-E8F82D05A9C5}"/>
              </a:ext>
            </a:extLst>
          </p:cNvPr>
          <p:cNvSpPr txBox="1"/>
          <p:nvPr/>
        </p:nvSpPr>
        <p:spPr>
          <a:xfrm>
            <a:off x="7603271" y="2080038"/>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Blue</a:t>
            </a:r>
          </a:p>
        </p:txBody>
      </p:sp>
      <p:sp>
        <p:nvSpPr>
          <p:cNvPr id="86" name="Isosceles Triangle 85">
            <a:extLst>
              <a:ext uri="{FF2B5EF4-FFF2-40B4-BE49-F238E27FC236}">
                <a16:creationId xmlns:a16="http://schemas.microsoft.com/office/drawing/2014/main" id="{23CF5E01-E964-80B3-A8BD-F843DED1E284}"/>
              </a:ext>
            </a:extLst>
          </p:cNvPr>
          <p:cNvSpPr/>
          <p:nvPr/>
        </p:nvSpPr>
        <p:spPr>
          <a:xfrm rot="10800000">
            <a:off x="4111431" y="5181381"/>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5DF4CFFF-6EF3-2CA5-25E6-4F487F0A42E3}"/>
              </a:ext>
            </a:extLst>
          </p:cNvPr>
          <p:cNvSpPr/>
          <p:nvPr/>
        </p:nvSpPr>
        <p:spPr>
          <a:xfrm>
            <a:off x="8154816" y="385029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6" name="Rectangle 5">
            <a:extLst>
              <a:ext uri="{FF2B5EF4-FFF2-40B4-BE49-F238E27FC236}">
                <a16:creationId xmlns:a16="http://schemas.microsoft.com/office/drawing/2014/main" id="{6503B8C5-CE54-732B-27C9-95D23D06A96A}"/>
              </a:ext>
            </a:extLst>
          </p:cNvPr>
          <p:cNvSpPr/>
          <p:nvPr/>
        </p:nvSpPr>
        <p:spPr>
          <a:xfrm>
            <a:off x="6966511" y="383547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7" name="Rectangle 6">
            <a:extLst>
              <a:ext uri="{FF2B5EF4-FFF2-40B4-BE49-F238E27FC236}">
                <a16:creationId xmlns:a16="http://schemas.microsoft.com/office/drawing/2014/main" id="{1FA59AF6-3EDA-B0B0-E249-0F05C619483C}"/>
              </a:ext>
            </a:extLst>
          </p:cNvPr>
          <p:cNvSpPr/>
          <p:nvPr/>
        </p:nvSpPr>
        <p:spPr>
          <a:xfrm>
            <a:off x="5778449" y="3818076"/>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8" name="Rectangle 7">
            <a:extLst>
              <a:ext uri="{FF2B5EF4-FFF2-40B4-BE49-F238E27FC236}">
                <a16:creationId xmlns:a16="http://schemas.microsoft.com/office/drawing/2014/main" id="{339E1EB7-F7D7-8D5B-1CAA-D3B3E722D90D}"/>
              </a:ext>
            </a:extLst>
          </p:cNvPr>
          <p:cNvSpPr/>
          <p:nvPr/>
        </p:nvSpPr>
        <p:spPr>
          <a:xfrm>
            <a:off x="5778449" y="555264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4" name="Rectangle 13">
            <a:extLst>
              <a:ext uri="{FF2B5EF4-FFF2-40B4-BE49-F238E27FC236}">
                <a16:creationId xmlns:a16="http://schemas.microsoft.com/office/drawing/2014/main" id="{F8ED6351-443F-0B0D-C3E2-CA16719ACE8F}"/>
              </a:ext>
            </a:extLst>
          </p:cNvPr>
          <p:cNvSpPr/>
          <p:nvPr/>
        </p:nvSpPr>
        <p:spPr>
          <a:xfrm>
            <a:off x="6949305" y="555264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5" name="Rectangle 14">
            <a:extLst>
              <a:ext uri="{FF2B5EF4-FFF2-40B4-BE49-F238E27FC236}">
                <a16:creationId xmlns:a16="http://schemas.microsoft.com/office/drawing/2014/main" id="{78CA3835-9401-C236-5537-2FF0F0CBED1C}"/>
              </a:ext>
            </a:extLst>
          </p:cNvPr>
          <p:cNvSpPr/>
          <p:nvPr/>
        </p:nvSpPr>
        <p:spPr>
          <a:xfrm>
            <a:off x="8146555" y="5545240"/>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E9D26548-B4C8-2739-4717-3DE98D661D9E}"/>
              </a:ext>
            </a:extLst>
          </p:cNvPr>
          <p:cNvSpPr txBox="1"/>
          <p:nvPr/>
        </p:nvSpPr>
        <p:spPr>
          <a:xfrm>
            <a:off x="8990693" y="3615496"/>
            <a:ext cx="2135834" cy="76944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p:txBody>
      </p:sp>
      <p:sp>
        <p:nvSpPr>
          <p:cNvPr id="36" name="TextBox 35">
            <a:extLst>
              <a:ext uri="{FF2B5EF4-FFF2-40B4-BE49-F238E27FC236}">
                <a16:creationId xmlns:a16="http://schemas.microsoft.com/office/drawing/2014/main" id="{96B2D54D-3A6F-0B34-3B77-5EC9E699744F}"/>
              </a:ext>
            </a:extLst>
          </p:cNvPr>
          <p:cNvSpPr txBox="1"/>
          <p:nvPr/>
        </p:nvSpPr>
        <p:spPr>
          <a:xfrm>
            <a:off x="9020754" y="4599079"/>
            <a:ext cx="2135834" cy="600164"/>
          </a:xfrm>
          <a:prstGeom prst="rect">
            <a:avLst/>
          </a:prstGeom>
          <a:noFill/>
        </p:spPr>
        <p:txBody>
          <a:bodyPr wrap="square" rtlCol="0">
            <a:spAutoFit/>
          </a:bodyPr>
          <a:lstStyle/>
          <a:p>
            <a:r>
              <a:rPr lang="en-US" sz="1100" i="1" dirty="0">
                <a:solidFill>
                  <a:srgbClr val="0070C0"/>
                </a:solidFill>
              </a:rPr>
              <a:t>Each of these images and titles should be links to the single product view</a:t>
            </a:r>
          </a:p>
        </p:txBody>
      </p:sp>
      <p:sp>
        <p:nvSpPr>
          <p:cNvPr id="37" name="TextBox 36">
            <a:extLst>
              <a:ext uri="{FF2B5EF4-FFF2-40B4-BE49-F238E27FC236}">
                <a16:creationId xmlns:a16="http://schemas.microsoft.com/office/drawing/2014/main" id="{ED162404-4956-A20E-00EC-60CFAE5AF6BE}"/>
              </a:ext>
            </a:extLst>
          </p:cNvPr>
          <p:cNvSpPr txBox="1"/>
          <p:nvPr/>
        </p:nvSpPr>
        <p:spPr>
          <a:xfrm>
            <a:off x="9020754" y="5495951"/>
            <a:ext cx="2135834" cy="430887"/>
          </a:xfrm>
          <a:prstGeom prst="rect">
            <a:avLst/>
          </a:prstGeom>
          <a:noFill/>
        </p:spPr>
        <p:txBody>
          <a:bodyPr wrap="square" rtlCol="0">
            <a:spAutoFit/>
          </a:bodyPr>
          <a:lstStyle/>
          <a:p>
            <a:r>
              <a:rPr lang="en-US" sz="1100" i="1" dirty="0">
                <a:solidFill>
                  <a:srgbClr val="0070C0"/>
                </a:solidFill>
              </a:rPr>
              <a:t>Should also be a way to add product to cart</a:t>
            </a:r>
          </a:p>
        </p:txBody>
      </p:sp>
      <p:sp>
        <p:nvSpPr>
          <p:cNvPr id="38" name="TextBox 37">
            <a:extLst>
              <a:ext uri="{FF2B5EF4-FFF2-40B4-BE49-F238E27FC236}">
                <a16:creationId xmlns:a16="http://schemas.microsoft.com/office/drawing/2014/main" id="{8EBA8587-AAF9-8708-B0AE-1B6643513965}"/>
              </a:ext>
            </a:extLst>
          </p:cNvPr>
          <p:cNvSpPr txBox="1"/>
          <p:nvPr/>
        </p:nvSpPr>
        <p:spPr>
          <a:xfrm>
            <a:off x="276768" y="1896704"/>
            <a:ext cx="2135834" cy="3139321"/>
          </a:xfrm>
          <a:prstGeom prst="rect">
            <a:avLst/>
          </a:prstGeom>
          <a:noFill/>
        </p:spPr>
        <p:txBody>
          <a:bodyPr wrap="square" rtlCol="0">
            <a:spAutoFit/>
          </a:bodyPr>
          <a:lstStyle/>
          <a:p>
            <a:r>
              <a:rPr lang="en-US" sz="1100" i="1" dirty="0">
                <a:solidFill>
                  <a:srgbClr val="0070C0"/>
                </a:solidFill>
              </a:rPr>
              <a:t>These department links should be additive (ANDs). Be sure to provide visual indication of which ones have been selected. I’ve indicated two possibilities here (bold and checkboxes). </a:t>
            </a:r>
          </a:p>
          <a:p>
            <a:endParaRPr lang="en-US" sz="1100" i="1" dirty="0">
              <a:solidFill>
                <a:srgbClr val="0070C0"/>
              </a:solidFill>
            </a:endParaRPr>
          </a:p>
          <a:p>
            <a:r>
              <a:rPr lang="en-US" sz="1100" i="1" dirty="0">
                <a:solidFill>
                  <a:srgbClr val="0070C0"/>
                </a:solidFill>
              </a:rPr>
              <a:t>Need to provide a way to remove a filter.</a:t>
            </a:r>
          </a:p>
          <a:p>
            <a:endParaRPr lang="en-US" sz="1100" i="1" dirty="0">
              <a:solidFill>
                <a:srgbClr val="0070C0"/>
              </a:solidFill>
            </a:endParaRPr>
          </a:p>
          <a:p>
            <a:r>
              <a:rPr lang="en-US" sz="1100" i="1" dirty="0">
                <a:solidFill>
                  <a:srgbClr val="0070C0"/>
                </a:solidFill>
              </a:rPr>
              <a:t>Every time a new filter is added or removed, update the list of matching products. If there are no matches, tell the user that this is the case.</a:t>
            </a:r>
          </a:p>
          <a:p>
            <a:endParaRPr lang="en-US" sz="1100" i="1" dirty="0">
              <a:solidFill>
                <a:srgbClr val="0070C0"/>
              </a:solidFill>
            </a:endParaRPr>
          </a:p>
          <a:p>
            <a:r>
              <a:rPr lang="en-US" sz="1100" i="1" dirty="0">
                <a:solidFill>
                  <a:srgbClr val="0070C0"/>
                </a:solidFill>
              </a:rPr>
              <a:t>I’d encourage you to take a look at other online stores for ideas.</a:t>
            </a:r>
          </a:p>
        </p:txBody>
      </p:sp>
      <p:sp>
        <p:nvSpPr>
          <p:cNvPr id="43" name="TextBox 42">
            <a:extLst>
              <a:ext uri="{FF2B5EF4-FFF2-40B4-BE49-F238E27FC236}">
                <a16:creationId xmlns:a16="http://schemas.microsoft.com/office/drawing/2014/main" id="{824FE680-2505-8EB9-BA2B-6B00EB20BC3B}"/>
              </a:ext>
            </a:extLst>
          </p:cNvPr>
          <p:cNvSpPr txBox="1"/>
          <p:nvPr/>
        </p:nvSpPr>
        <p:spPr>
          <a:xfrm>
            <a:off x="6449543" y="1772945"/>
            <a:ext cx="720607" cy="153888"/>
          </a:xfrm>
          <a:prstGeom prst="rect">
            <a:avLst/>
          </a:prstGeom>
          <a:noFill/>
          <a:ln>
            <a:solidFill>
              <a:schemeClr val="bg1">
                <a:lumMod val="75000"/>
              </a:schemeClr>
            </a:solidFill>
          </a:ln>
        </p:spPr>
        <p:txBody>
          <a:bodyPr wrap="square" lIns="0" tIns="0" rIns="0" bIns="0" rtlCol="0">
            <a:spAutoFit/>
          </a:bodyPr>
          <a:lstStyle/>
          <a:p>
            <a:pPr algn="ctr"/>
            <a:r>
              <a:rPr lang="en-US" sz="1000" dirty="0"/>
              <a:t>X Clear All</a:t>
            </a:r>
          </a:p>
        </p:txBody>
      </p:sp>
      <p:sp>
        <p:nvSpPr>
          <p:cNvPr id="44" name="TextBox 43">
            <a:extLst>
              <a:ext uri="{FF2B5EF4-FFF2-40B4-BE49-F238E27FC236}">
                <a16:creationId xmlns:a16="http://schemas.microsoft.com/office/drawing/2014/main" id="{D78F53EA-5B88-89F0-86B1-49CE409ACC27}"/>
              </a:ext>
            </a:extLst>
          </p:cNvPr>
          <p:cNvSpPr txBox="1"/>
          <p:nvPr/>
        </p:nvSpPr>
        <p:spPr>
          <a:xfrm>
            <a:off x="9032294" y="2033444"/>
            <a:ext cx="2135834" cy="1277273"/>
          </a:xfrm>
          <a:prstGeom prst="rect">
            <a:avLst/>
          </a:prstGeom>
          <a:noFill/>
        </p:spPr>
        <p:txBody>
          <a:bodyPr wrap="square" rtlCol="0">
            <a:spAutoFit/>
          </a:bodyPr>
          <a:lstStyle/>
          <a:p>
            <a:r>
              <a:rPr lang="en-US" sz="1100" i="1" dirty="0">
                <a:solidFill>
                  <a:srgbClr val="0070C0"/>
                </a:solidFill>
              </a:rPr>
              <a:t>Somewhere you need to show the current filters (and provide easy way to clear them). Here you can see the five filters in place. Perhaps you allow the user to remove these filters selectively here.</a:t>
            </a:r>
          </a:p>
        </p:txBody>
      </p:sp>
      <p:sp>
        <p:nvSpPr>
          <p:cNvPr id="89" name="TextBox 88">
            <a:extLst>
              <a:ext uri="{FF2B5EF4-FFF2-40B4-BE49-F238E27FC236}">
                <a16:creationId xmlns:a16="http://schemas.microsoft.com/office/drawing/2014/main" id="{EC46FC62-3851-08FA-3E88-8403B8E01113}"/>
              </a:ext>
            </a:extLst>
          </p:cNvPr>
          <p:cNvSpPr txBox="1"/>
          <p:nvPr/>
        </p:nvSpPr>
        <p:spPr>
          <a:xfrm>
            <a:off x="9054180" y="1034035"/>
            <a:ext cx="2135834" cy="938719"/>
          </a:xfrm>
          <a:prstGeom prst="rect">
            <a:avLst/>
          </a:prstGeom>
          <a:noFill/>
        </p:spPr>
        <p:txBody>
          <a:bodyPr wrap="square" rtlCol="0">
            <a:spAutoFit/>
          </a:bodyPr>
          <a:lstStyle/>
          <a:p>
            <a:r>
              <a:rPr lang="en-US" sz="1100" i="1" dirty="0">
                <a:solidFill>
                  <a:srgbClr val="0070C0"/>
                </a:solidFill>
              </a:rPr>
              <a:t>Should also be a way to change the sort order between: product name (A-Z), price, and category. The default should be product name.</a:t>
            </a:r>
          </a:p>
        </p:txBody>
      </p:sp>
      <p:cxnSp>
        <p:nvCxnSpPr>
          <p:cNvPr id="90" name="Straight Connector 89">
            <a:extLst>
              <a:ext uri="{FF2B5EF4-FFF2-40B4-BE49-F238E27FC236}">
                <a16:creationId xmlns:a16="http://schemas.microsoft.com/office/drawing/2014/main" id="{9871AA41-BBB3-63D2-6A1E-71755D90A81C}"/>
              </a:ext>
            </a:extLst>
          </p:cNvPr>
          <p:cNvCxnSpPr>
            <a:cxnSpLocks/>
          </p:cNvCxnSpPr>
          <p:nvPr/>
        </p:nvCxnSpPr>
        <p:spPr>
          <a:xfrm flipH="1">
            <a:off x="8434699" y="149048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D14E99B-3E9C-D0F0-C732-58FBB9C26107}"/>
              </a:ext>
            </a:extLst>
          </p:cNvPr>
          <p:cNvCxnSpPr>
            <a:cxnSpLocks/>
          </p:cNvCxnSpPr>
          <p:nvPr/>
        </p:nvCxnSpPr>
        <p:spPr>
          <a:xfrm flipH="1">
            <a:off x="8301905" y="2162564"/>
            <a:ext cx="730389"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950EA9D-CB63-27AA-CB65-47D813DD54E9}"/>
              </a:ext>
            </a:extLst>
          </p:cNvPr>
          <p:cNvCxnSpPr>
            <a:cxnSpLocks/>
          </p:cNvCxnSpPr>
          <p:nvPr/>
        </p:nvCxnSpPr>
        <p:spPr>
          <a:xfrm flipH="1">
            <a:off x="8434699" y="5608282"/>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8DF8E8A-A07A-F3BB-CA18-DC727D139327}"/>
              </a:ext>
            </a:extLst>
          </p:cNvPr>
          <p:cNvSpPr txBox="1"/>
          <p:nvPr/>
        </p:nvSpPr>
        <p:spPr>
          <a:xfrm>
            <a:off x="4887330" y="1024455"/>
            <a:ext cx="1337443" cy="276999"/>
          </a:xfrm>
          <a:prstGeom prst="rect">
            <a:avLst/>
          </a:prstGeom>
          <a:noFill/>
        </p:spPr>
        <p:txBody>
          <a:bodyPr wrap="square" rtlCol="0">
            <a:spAutoFit/>
          </a:bodyPr>
          <a:lstStyle/>
          <a:p>
            <a:r>
              <a:rPr lang="en-US" sz="1200" b="1" dirty="0"/>
              <a:t>Browse</a:t>
            </a:r>
          </a:p>
        </p:txBody>
      </p:sp>
    </p:spTree>
    <p:extLst>
      <p:ext uri="{BB962C8B-B14F-4D97-AF65-F5344CB8AC3E}">
        <p14:creationId xmlns:p14="http://schemas.microsoft.com/office/powerpoint/2010/main" val="318888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298737-784A-0F4E-3A71-1001256D36B0}"/>
              </a:ext>
            </a:extLst>
          </p:cNvPr>
          <p:cNvSpPr/>
          <p:nvPr/>
        </p:nvSpPr>
        <p:spPr>
          <a:xfrm>
            <a:off x="2299164" y="327480"/>
            <a:ext cx="5215438" cy="61245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FDB9A3BA-80F1-04ED-A743-46C4653B8273}"/>
              </a:ext>
            </a:extLst>
          </p:cNvPr>
          <p:cNvSpPr/>
          <p:nvPr/>
        </p:nvSpPr>
        <p:spPr>
          <a:xfrm>
            <a:off x="2451490" y="875151"/>
            <a:ext cx="2749231" cy="21605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F3DC929-58C8-E36D-52BF-19F04476A38A}"/>
              </a:ext>
            </a:extLst>
          </p:cNvPr>
          <p:cNvSpPr txBox="1"/>
          <p:nvPr/>
        </p:nvSpPr>
        <p:spPr>
          <a:xfrm>
            <a:off x="5366648" y="875151"/>
            <a:ext cx="1946734" cy="307777"/>
          </a:xfrm>
          <a:prstGeom prst="rect">
            <a:avLst/>
          </a:prstGeom>
          <a:noFill/>
        </p:spPr>
        <p:txBody>
          <a:bodyPr wrap="square" rtlCol="0">
            <a:spAutoFit/>
          </a:bodyPr>
          <a:lstStyle/>
          <a:p>
            <a:r>
              <a:rPr lang="en-US" sz="1400" b="1" dirty="0"/>
              <a:t>Product Title</a:t>
            </a:r>
          </a:p>
        </p:txBody>
      </p:sp>
      <p:sp>
        <p:nvSpPr>
          <p:cNvPr id="6" name="TextBox 5">
            <a:extLst>
              <a:ext uri="{FF2B5EF4-FFF2-40B4-BE49-F238E27FC236}">
                <a16:creationId xmlns:a16="http://schemas.microsoft.com/office/drawing/2014/main" id="{DA1CB062-23F9-9080-DB19-5E3202F1ED0D}"/>
              </a:ext>
            </a:extLst>
          </p:cNvPr>
          <p:cNvSpPr txBox="1"/>
          <p:nvPr/>
        </p:nvSpPr>
        <p:spPr>
          <a:xfrm>
            <a:off x="5366647" y="1588408"/>
            <a:ext cx="1929501" cy="246221"/>
          </a:xfrm>
          <a:prstGeom prst="rect">
            <a:avLst/>
          </a:prstGeom>
          <a:noFill/>
        </p:spPr>
        <p:txBody>
          <a:bodyPr wrap="square" rtlCol="0">
            <a:spAutoFit/>
          </a:bodyPr>
          <a:lstStyle/>
          <a:p>
            <a:r>
              <a:rPr lang="en-US" sz="1000" dirty="0"/>
              <a:t>Product Description</a:t>
            </a:r>
          </a:p>
        </p:txBody>
      </p:sp>
      <p:sp>
        <p:nvSpPr>
          <p:cNvPr id="7" name="TextBox 6">
            <a:extLst>
              <a:ext uri="{FF2B5EF4-FFF2-40B4-BE49-F238E27FC236}">
                <a16:creationId xmlns:a16="http://schemas.microsoft.com/office/drawing/2014/main" id="{B9ACDCE7-48AA-2A73-9B49-A55D341A58F9}"/>
              </a:ext>
            </a:extLst>
          </p:cNvPr>
          <p:cNvSpPr txBox="1"/>
          <p:nvPr/>
        </p:nvSpPr>
        <p:spPr>
          <a:xfrm>
            <a:off x="5366647" y="1222638"/>
            <a:ext cx="1929501" cy="246221"/>
          </a:xfrm>
          <a:prstGeom prst="rect">
            <a:avLst/>
          </a:prstGeom>
          <a:noFill/>
        </p:spPr>
        <p:txBody>
          <a:bodyPr wrap="square" rtlCol="0">
            <a:spAutoFit/>
          </a:bodyPr>
          <a:lstStyle/>
          <a:p>
            <a:r>
              <a:rPr lang="en-US" sz="1000" b="1" dirty="0"/>
              <a:t>Product Price</a:t>
            </a:r>
          </a:p>
        </p:txBody>
      </p:sp>
      <p:sp>
        <p:nvSpPr>
          <p:cNvPr id="8" name="Rectangle 7">
            <a:extLst>
              <a:ext uri="{FF2B5EF4-FFF2-40B4-BE49-F238E27FC236}">
                <a16:creationId xmlns:a16="http://schemas.microsoft.com/office/drawing/2014/main" id="{5789EB70-1E0A-957D-0222-65E349764F85}"/>
              </a:ext>
            </a:extLst>
          </p:cNvPr>
          <p:cNvSpPr/>
          <p:nvPr/>
        </p:nvSpPr>
        <p:spPr>
          <a:xfrm>
            <a:off x="5453078" y="2912669"/>
            <a:ext cx="288043" cy="2734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XS</a:t>
            </a:r>
          </a:p>
        </p:txBody>
      </p:sp>
      <p:sp>
        <p:nvSpPr>
          <p:cNvPr id="10" name="Rectangle 9">
            <a:extLst>
              <a:ext uri="{FF2B5EF4-FFF2-40B4-BE49-F238E27FC236}">
                <a16:creationId xmlns:a16="http://schemas.microsoft.com/office/drawing/2014/main" id="{D83AAF10-31AE-F9B7-6B57-C9936CF25AA3}"/>
              </a:ext>
            </a:extLst>
          </p:cNvPr>
          <p:cNvSpPr/>
          <p:nvPr/>
        </p:nvSpPr>
        <p:spPr>
          <a:xfrm>
            <a:off x="5467655" y="3363118"/>
            <a:ext cx="273466" cy="2734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0C5DFAC5-8191-41B7-F2F7-61789301DA44}"/>
              </a:ext>
            </a:extLst>
          </p:cNvPr>
          <p:cNvSpPr/>
          <p:nvPr/>
        </p:nvSpPr>
        <p:spPr>
          <a:xfrm>
            <a:off x="5831023" y="3363118"/>
            <a:ext cx="273466" cy="27346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BD25AFBC-2534-44F2-A948-FAA54CB19459}"/>
              </a:ext>
            </a:extLst>
          </p:cNvPr>
          <p:cNvSpPr/>
          <p:nvPr/>
        </p:nvSpPr>
        <p:spPr>
          <a:xfrm>
            <a:off x="5816446" y="2912669"/>
            <a:ext cx="288043" cy="2734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M</a:t>
            </a:r>
          </a:p>
        </p:txBody>
      </p:sp>
      <p:sp>
        <p:nvSpPr>
          <p:cNvPr id="14" name="TextBox 13">
            <a:extLst>
              <a:ext uri="{FF2B5EF4-FFF2-40B4-BE49-F238E27FC236}">
                <a16:creationId xmlns:a16="http://schemas.microsoft.com/office/drawing/2014/main" id="{9D611A35-E11D-5A1A-7029-853C8D9DC76D}"/>
              </a:ext>
            </a:extLst>
          </p:cNvPr>
          <p:cNvSpPr txBox="1"/>
          <p:nvPr/>
        </p:nvSpPr>
        <p:spPr>
          <a:xfrm>
            <a:off x="5375264" y="2057728"/>
            <a:ext cx="720075" cy="246221"/>
          </a:xfrm>
          <a:prstGeom prst="rect">
            <a:avLst/>
          </a:prstGeom>
          <a:noFill/>
        </p:spPr>
        <p:txBody>
          <a:bodyPr wrap="square" rtlCol="0">
            <a:spAutoFit/>
          </a:bodyPr>
          <a:lstStyle/>
          <a:p>
            <a:r>
              <a:rPr lang="en-US" sz="1000" dirty="0"/>
              <a:t>Material</a:t>
            </a:r>
          </a:p>
        </p:txBody>
      </p:sp>
      <p:sp>
        <p:nvSpPr>
          <p:cNvPr id="15" name="TextBox 14">
            <a:extLst>
              <a:ext uri="{FF2B5EF4-FFF2-40B4-BE49-F238E27FC236}">
                <a16:creationId xmlns:a16="http://schemas.microsoft.com/office/drawing/2014/main" id="{FF8F8D78-38EA-88C6-A96E-B076F52FC808}"/>
              </a:ext>
            </a:extLst>
          </p:cNvPr>
          <p:cNvSpPr txBox="1"/>
          <p:nvPr/>
        </p:nvSpPr>
        <p:spPr>
          <a:xfrm>
            <a:off x="2963842" y="1698873"/>
            <a:ext cx="1929501" cy="246221"/>
          </a:xfrm>
          <a:prstGeom prst="rect">
            <a:avLst/>
          </a:prstGeom>
          <a:noFill/>
        </p:spPr>
        <p:txBody>
          <a:bodyPr wrap="square" rtlCol="0">
            <a:spAutoFit/>
          </a:bodyPr>
          <a:lstStyle/>
          <a:p>
            <a:r>
              <a:rPr lang="en-US" sz="1000" dirty="0"/>
              <a:t>Main Product image placeholder</a:t>
            </a:r>
          </a:p>
        </p:txBody>
      </p:sp>
      <p:sp>
        <p:nvSpPr>
          <p:cNvPr id="18" name="Rounded Rectangle 68">
            <a:extLst>
              <a:ext uri="{FF2B5EF4-FFF2-40B4-BE49-F238E27FC236}">
                <a16:creationId xmlns:a16="http://schemas.microsoft.com/office/drawing/2014/main" id="{5BFCA56B-6205-8684-45FC-F02AEFF25501}"/>
              </a:ext>
            </a:extLst>
          </p:cNvPr>
          <p:cNvSpPr/>
          <p:nvPr/>
        </p:nvSpPr>
        <p:spPr>
          <a:xfrm>
            <a:off x="5422936" y="3814857"/>
            <a:ext cx="1131687"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31DC686-5D64-95C1-A703-498773DE87F9}"/>
              </a:ext>
            </a:extLst>
          </p:cNvPr>
          <p:cNvSpPr txBox="1"/>
          <p:nvPr/>
        </p:nvSpPr>
        <p:spPr>
          <a:xfrm>
            <a:off x="5448474" y="3825613"/>
            <a:ext cx="1026371" cy="276999"/>
          </a:xfrm>
          <a:prstGeom prst="rect">
            <a:avLst/>
          </a:prstGeom>
          <a:noFill/>
        </p:spPr>
        <p:txBody>
          <a:bodyPr wrap="none" rtlCol="0">
            <a:spAutoFit/>
          </a:bodyPr>
          <a:lstStyle/>
          <a:p>
            <a:r>
              <a:rPr lang="en-US" sz="1200" b="1" dirty="0"/>
              <a:t>+ Add to Cart</a:t>
            </a:r>
          </a:p>
        </p:txBody>
      </p:sp>
      <p:sp>
        <p:nvSpPr>
          <p:cNvPr id="20" name="TextBox 19">
            <a:extLst>
              <a:ext uri="{FF2B5EF4-FFF2-40B4-BE49-F238E27FC236}">
                <a16:creationId xmlns:a16="http://schemas.microsoft.com/office/drawing/2014/main" id="{94AC24DF-2F9D-EF13-B3AF-1EEC9F8135E3}"/>
              </a:ext>
            </a:extLst>
          </p:cNvPr>
          <p:cNvSpPr txBox="1"/>
          <p:nvPr/>
        </p:nvSpPr>
        <p:spPr>
          <a:xfrm>
            <a:off x="2451490" y="478205"/>
            <a:ext cx="2971447" cy="246221"/>
          </a:xfrm>
          <a:prstGeom prst="rect">
            <a:avLst/>
          </a:prstGeom>
          <a:noFill/>
        </p:spPr>
        <p:txBody>
          <a:bodyPr wrap="square" rtlCol="0">
            <a:spAutoFit/>
          </a:bodyPr>
          <a:lstStyle/>
          <a:p>
            <a:r>
              <a:rPr lang="en-US" sz="1000" b="1" u="sng" dirty="0"/>
              <a:t>Home</a:t>
            </a:r>
            <a:r>
              <a:rPr lang="en-US" sz="1000" b="1" dirty="0"/>
              <a:t> &gt; </a:t>
            </a:r>
            <a:r>
              <a:rPr lang="en-US" sz="1000" b="1" u="sng" dirty="0"/>
              <a:t>Gender</a:t>
            </a:r>
            <a:r>
              <a:rPr lang="en-US" sz="1000" b="1" dirty="0"/>
              <a:t> &gt; </a:t>
            </a:r>
            <a:r>
              <a:rPr lang="en-US" sz="1000" b="1" u="sng" dirty="0"/>
              <a:t>Category Name </a:t>
            </a:r>
            <a:r>
              <a:rPr lang="en-US" sz="1000" b="1" dirty="0"/>
              <a:t>&gt; Product Title</a:t>
            </a:r>
          </a:p>
        </p:txBody>
      </p:sp>
      <p:sp>
        <p:nvSpPr>
          <p:cNvPr id="21" name="Rectangle 20">
            <a:extLst>
              <a:ext uri="{FF2B5EF4-FFF2-40B4-BE49-F238E27FC236}">
                <a16:creationId xmlns:a16="http://schemas.microsoft.com/office/drawing/2014/main" id="{EE30116F-E8D7-571A-6C6E-686A1F0D3672}"/>
              </a:ext>
            </a:extLst>
          </p:cNvPr>
          <p:cNvSpPr/>
          <p:nvPr/>
        </p:nvSpPr>
        <p:spPr>
          <a:xfrm>
            <a:off x="6130409" y="2492455"/>
            <a:ext cx="556880"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22" name="TextBox 21">
            <a:extLst>
              <a:ext uri="{FF2B5EF4-FFF2-40B4-BE49-F238E27FC236}">
                <a16:creationId xmlns:a16="http://schemas.microsoft.com/office/drawing/2014/main" id="{F1F40122-9557-02D6-986E-EE719A61D40C}"/>
              </a:ext>
            </a:extLst>
          </p:cNvPr>
          <p:cNvSpPr txBox="1"/>
          <p:nvPr/>
        </p:nvSpPr>
        <p:spPr>
          <a:xfrm>
            <a:off x="5393091" y="2492455"/>
            <a:ext cx="720075" cy="246221"/>
          </a:xfrm>
          <a:prstGeom prst="rect">
            <a:avLst/>
          </a:prstGeom>
          <a:noFill/>
        </p:spPr>
        <p:txBody>
          <a:bodyPr wrap="square" rtlCol="0">
            <a:spAutoFit/>
          </a:bodyPr>
          <a:lstStyle/>
          <a:p>
            <a:r>
              <a:rPr lang="en-US" sz="1000" dirty="0"/>
              <a:t>Quantity</a:t>
            </a:r>
          </a:p>
        </p:txBody>
      </p:sp>
      <p:sp>
        <p:nvSpPr>
          <p:cNvPr id="9" name="Rectangle 8">
            <a:extLst>
              <a:ext uri="{FF2B5EF4-FFF2-40B4-BE49-F238E27FC236}">
                <a16:creationId xmlns:a16="http://schemas.microsoft.com/office/drawing/2014/main" id="{04F6FCA3-C4A3-D8A9-5985-D2443E513F9B}"/>
              </a:ext>
            </a:extLst>
          </p:cNvPr>
          <p:cNvSpPr/>
          <p:nvPr/>
        </p:nvSpPr>
        <p:spPr>
          <a:xfrm>
            <a:off x="2464076" y="3201891"/>
            <a:ext cx="1272128" cy="12846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0FB8C8B-C26A-3182-C281-0689AABB8C5A}"/>
              </a:ext>
            </a:extLst>
          </p:cNvPr>
          <p:cNvSpPr/>
          <p:nvPr/>
        </p:nvSpPr>
        <p:spPr>
          <a:xfrm>
            <a:off x="3928593" y="3201891"/>
            <a:ext cx="1272128" cy="12846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72EB0CC7-D688-F552-F466-14951A3AF808}"/>
              </a:ext>
            </a:extLst>
          </p:cNvPr>
          <p:cNvSpPr txBox="1"/>
          <p:nvPr/>
        </p:nvSpPr>
        <p:spPr>
          <a:xfrm>
            <a:off x="2518480" y="3582906"/>
            <a:ext cx="1272129" cy="400110"/>
          </a:xfrm>
          <a:prstGeom prst="rect">
            <a:avLst/>
          </a:prstGeom>
          <a:noFill/>
        </p:spPr>
        <p:txBody>
          <a:bodyPr wrap="square" rtlCol="0">
            <a:spAutoFit/>
          </a:bodyPr>
          <a:lstStyle/>
          <a:p>
            <a:r>
              <a:rPr lang="en-US" sz="1000" dirty="0"/>
              <a:t>Smaller product images placeholders</a:t>
            </a:r>
          </a:p>
        </p:txBody>
      </p:sp>
      <p:sp>
        <p:nvSpPr>
          <p:cNvPr id="23" name="Rectangle 22">
            <a:extLst>
              <a:ext uri="{FF2B5EF4-FFF2-40B4-BE49-F238E27FC236}">
                <a16:creationId xmlns:a16="http://schemas.microsoft.com/office/drawing/2014/main" id="{4CCD9D13-9D71-0C82-96FD-A974B4F09003}"/>
              </a:ext>
            </a:extLst>
          </p:cNvPr>
          <p:cNvSpPr/>
          <p:nvPr/>
        </p:nvSpPr>
        <p:spPr>
          <a:xfrm rot="10800000" flipH="1" flipV="1">
            <a:off x="2460344" y="491179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4" name="Rectangle 23">
            <a:extLst>
              <a:ext uri="{FF2B5EF4-FFF2-40B4-BE49-F238E27FC236}">
                <a16:creationId xmlns:a16="http://schemas.microsoft.com/office/drawing/2014/main" id="{C8E4B444-31A2-5EAF-9AB1-C35373057FD4}"/>
              </a:ext>
            </a:extLst>
          </p:cNvPr>
          <p:cNvSpPr/>
          <p:nvPr/>
        </p:nvSpPr>
        <p:spPr>
          <a:xfrm rot="10800000" flipH="1" flipV="1">
            <a:off x="3635512" y="491179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5" name="Rectangle 24">
            <a:extLst>
              <a:ext uri="{FF2B5EF4-FFF2-40B4-BE49-F238E27FC236}">
                <a16:creationId xmlns:a16="http://schemas.microsoft.com/office/drawing/2014/main" id="{57C27DCB-612A-5686-A429-FD7BBF09A437}"/>
              </a:ext>
            </a:extLst>
          </p:cNvPr>
          <p:cNvSpPr/>
          <p:nvPr/>
        </p:nvSpPr>
        <p:spPr>
          <a:xfrm rot="10800000" flipH="1" flipV="1">
            <a:off x="4823720" y="4920713"/>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26" name="TextBox 25">
            <a:extLst>
              <a:ext uri="{FF2B5EF4-FFF2-40B4-BE49-F238E27FC236}">
                <a16:creationId xmlns:a16="http://schemas.microsoft.com/office/drawing/2014/main" id="{C7AD1CE4-2555-91CA-3516-814B6074B72A}"/>
              </a:ext>
            </a:extLst>
          </p:cNvPr>
          <p:cNvSpPr txBox="1"/>
          <p:nvPr/>
        </p:nvSpPr>
        <p:spPr>
          <a:xfrm>
            <a:off x="2415329" y="6062721"/>
            <a:ext cx="813167" cy="400110"/>
          </a:xfrm>
          <a:prstGeom prst="rect">
            <a:avLst/>
          </a:prstGeom>
          <a:noFill/>
        </p:spPr>
        <p:txBody>
          <a:bodyPr wrap="square" rtlCol="0">
            <a:spAutoFit/>
          </a:bodyPr>
          <a:lstStyle/>
          <a:p>
            <a:r>
              <a:rPr lang="en-US" sz="1000" dirty="0"/>
              <a:t>Title</a:t>
            </a:r>
          </a:p>
          <a:p>
            <a:r>
              <a:rPr lang="en-US" sz="1000" dirty="0"/>
              <a:t>$price</a:t>
            </a:r>
          </a:p>
        </p:txBody>
      </p:sp>
      <p:sp>
        <p:nvSpPr>
          <p:cNvPr id="27" name="TextBox 26">
            <a:extLst>
              <a:ext uri="{FF2B5EF4-FFF2-40B4-BE49-F238E27FC236}">
                <a16:creationId xmlns:a16="http://schemas.microsoft.com/office/drawing/2014/main" id="{A0BD989A-2CCB-292C-05CD-BEFB8F9CD5B7}"/>
              </a:ext>
            </a:extLst>
          </p:cNvPr>
          <p:cNvSpPr txBox="1"/>
          <p:nvPr/>
        </p:nvSpPr>
        <p:spPr>
          <a:xfrm>
            <a:off x="3648552" y="6062721"/>
            <a:ext cx="813167" cy="400110"/>
          </a:xfrm>
          <a:prstGeom prst="rect">
            <a:avLst/>
          </a:prstGeom>
          <a:noFill/>
        </p:spPr>
        <p:txBody>
          <a:bodyPr wrap="square" rtlCol="0">
            <a:spAutoFit/>
          </a:bodyPr>
          <a:lstStyle/>
          <a:p>
            <a:r>
              <a:rPr lang="en-US" sz="1000" dirty="0"/>
              <a:t>Title</a:t>
            </a:r>
          </a:p>
          <a:p>
            <a:r>
              <a:rPr lang="en-US" sz="1000" dirty="0"/>
              <a:t>$price</a:t>
            </a:r>
          </a:p>
        </p:txBody>
      </p:sp>
      <p:sp>
        <p:nvSpPr>
          <p:cNvPr id="28" name="TextBox 27">
            <a:extLst>
              <a:ext uri="{FF2B5EF4-FFF2-40B4-BE49-F238E27FC236}">
                <a16:creationId xmlns:a16="http://schemas.microsoft.com/office/drawing/2014/main" id="{36070B00-7980-B58C-68CF-64A304B9EDD1}"/>
              </a:ext>
            </a:extLst>
          </p:cNvPr>
          <p:cNvSpPr txBox="1"/>
          <p:nvPr/>
        </p:nvSpPr>
        <p:spPr>
          <a:xfrm>
            <a:off x="4881775" y="6090842"/>
            <a:ext cx="813167" cy="400110"/>
          </a:xfrm>
          <a:prstGeom prst="rect">
            <a:avLst/>
          </a:prstGeom>
          <a:noFill/>
        </p:spPr>
        <p:txBody>
          <a:bodyPr wrap="square" rtlCol="0">
            <a:spAutoFit/>
          </a:bodyPr>
          <a:lstStyle/>
          <a:p>
            <a:r>
              <a:rPr lang="en-US" sz="1000" dirty="0"/>
              <a:t>Title</a:t>
            </a:r>
          </a:p>
          <a:p>
            <a:r>
              <a:rPr lang="en-US" sz="1000" dirty="0"/>
              <a:t>$price</a:t>
            </a:r>
          </a:p>
        </p:txBody>
      </p:sp>
      <p:sp>
        <p:nvSpPr>
          <p:cNvPr id="29" name="Rectangle 28">
            <a:extLst>
              <a:ext uri="{FF2B5EF4-FFF2-40B4-BE49-F238E27FC236}">
                <a16:creationId xmlns:a16="http://schemas.microsoft.com/office/drawing/2014/main" id="{9A57BB39-CF57-6833-9864-4C928EAD3C37}"/>
              </a:ext>
            </a:extLst>
          </p:cNvPr>
          <p:cNvSpPr/>
          <p:nvPr/>
        </p:nvSpPr>
        <p:spPr>
          <a:xfrm>
            <a:off x="5663614" y="6160869"/>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0" name="Rectangle 29">
            <a:extLst>
              <a:ext uri="{FF2B5EF4-FFF2-40B4-BE49-F238E27FC236}">
                <a16:creationId xmlns:a16="http://schemas.microsoft.com/office/drawing/2014/main" id="{EC7055D3-FB5C-29D5-471A-2485905901CD}"/>
              </a:ext>
            </a:extLst>
          </p:cNvPr>
          <p:cNvSpPr/>
          <p:nvPr/>
        </p:nvSpPr>
        <p:spPr>
          <a:xfrm>
            <a:off x="4475309" y="6146046"/>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1" name="Rectangle 30">
            <a:extLst>
              <a:ext uri="{FF2B5EF4-FFF2-40B4-BE49-F238E27FC236}">
                <a16:creationId xmlns:a16="http://schemas.microsoft.com/office/drawing/2014/main" id="{B052E702-64AB-AE52-F769-AB2DB6901A56}"/>
              </a:ext>
            </a:extLst>
          </p:cNvPr>
          <p:cNvSpPr/>
          <p:nvPr/>
        </p:nvSpPr>
        <p:spPr>
          <a:xfrm>
            <a:off x="3287247" y="612865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2" name="Rectangle 31">
            <a:extLst>
              <a:ext uri="{FF2B5EF4-FFF2-40B4-BE49-F238E27FC236}">
                <a16:creationId xmlns:a16="http://schemas.microsoft.com/office/drawing/2014/main" id="{5BC5FDC1-97FD-241B-115F-F2E76AE9CC42}"/>
              </a:ext>
            </a:extLst>
          </p:cNvPr>
          <p:cNvSpPr/>
          <p:nvPr/>
        </p:nvSpPr>
        <p:spPr>
          <a:xfrm rot="10800000" flipH="1" flipV="1">
            <a:off x="6015041" y="4911799"/>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33" name="TextBox 32">
            <a:extLst>
              <a:ext uri="{FF2B5EF4-FFF2-40B4-BE49-F238E27FC236}">
                <a16:creationId xmlns:a16="http://schemas.microsoft.com/office/drawing/2014/main" id="{7AFD62BB-053D-F130-E7DC-9BEE5906D1BD}"/>
              </a:ext>
            </a:extLst>
          </p:cNvPr>
          <p:cNvSpPr txBox="1"/>
          <p:nvPr/>
        </p:nvSpPr>
        <p:spPr>
          <a:xfrm>
            <a:off x="6073096" y="6081928"/>
            <a:ext cx="813167" cy="400110"/>
          </a:xfrm>
          <a:prstGeom prst="rect">
            <a:avLst/>
          </a:prstGeom>
          <a:noFill/>
        </p:spPr>
        <p:txBody>
          <a:bodyPr wrap="square" rtlCol="0">
            <a:spAutoFit/>
          </a:bodyPr>
          <a:lstStyle/>
          <a:p>
            <a:r>
              <a:rPr lang="en-US" sz="1000" dirty="0"/>
              <a:t>Title</a:t>
            </a:r>
          </a:p>
          <a:p>
            <a:r>
              <a:rPr lang="en-US" sz="1000" dirty="0"/>
              <a:t>$price</a:t>
            </a:r>
          </a:p>
        </p:txBody>
      </p:sp>
      <p:sp>
        <p:nvSpPr>
          <p:cNvPr id="34" name="Rectangle 33">
            <a:extLst>
              <a:ext uri="{FF2B5EF4-FFF2-40B4-BE49-F238E27FC236}">
                <a16:creationId xmlns:a16="http://schemas.microsoft.com/office/drawing/2014/main" id="{A15FC0ED-1EDC-3964-17F6-7B6C7177F9FD}"/>
              </a:ext>
            </a:extLst>
          </p:cNvPr>
          <p:cNvSpPr/>
          <p:nvPr/>
        </p:nvSpPr>
        <p:spPr>
          <a:xfrm>
            <a:off x="6854935" y="6151955"/>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7946CE1A-73F8-BCF7-1474-7624AB0F5398}"/>
              </a:ext>
            </a:extLst>
          </p:cNvPr>
          <p:cNvSpPr txBox="1"/>
          <p:nvPr/>
        </p:nvSpPr>
        <p:spPr>
          <a:xfrm>
            <a:off x="4235970" y="4647405"/>
            <a:ext cx="1929501" cy="246221"/>
          </a:xfrm>
          <a:prstGeom prst="rect">
            <a:avLst/>
          </a:prstGeom>
          <a:noFill/>
        </p:spPr>
        <p:txBody>
          <a:bodyPr wrap="square" rtlCol="0">
            <a:spAutoFit/>
          </a:bodyPr>
          <a:lstStyle/>
          <a:p>
            <a:r>
              <a:rPr lang="en-US" sz="1000" b="1" dirty="0"/>
              <a:t>Related Products</a:t>
            </a:r>
          </a:p>
        </p:txBody>
      </p:sp>
      <p:sp>
        <p:nvSpPr>
          <p:cNvPr id="36" name="TextBox 35">
            <a:extLst>
              <a:ext uri="{FF2B5EF4-FFF2-40B4-BE49-F238E27FC236}">
                <a16:creationId xmlns:a16="http://schemas.microsoft.com/office/drawing/2014/main" id="{2E955DD5-9222-28F1-1352-9E59FDCE31D2}"/>
              </a:ext>
            </a:extLst>
          </p:cNvPr>
          <p:cNvSpPr txBox="1"/>
          <p:nvPr/>
        </p:nvSpPr>
        <p:spPr>
          <a:xfrm>
            <a:off x="7666928" y="305323"/>
            <a:ext cx="2135834" cy="600164"/>
          </a:xfrm>
          <a:prstGeom prst="rect">
            <a:avLst/>
          </a:prstGeom>
          <a:noFill/>
        </p:spPr>
        <p:txBody>
          <a:bodyPr wrap="square" rtlCol="0">
            <a:spAutoFit/>
          </a:bodyPr>
          <a:lstStyle/>
          <a:p>
            <a:r>
              <a:rPr lang="en-US" sz="1100" i="1" dirty="0">
                <a:solidFill>
                  <a:srgbClr val="0070C0"/>
                </a:solidFill>
              </a:rPr>
              <a:t>You need to provide breadcrumb navigation, though I don’t except the links to work</a:t>
            </a:r>
          </a:p>
        </p:txBody>
      </p:sp>
      <p:cxnSp>
        <p:nvCxnSpPr>
          <p:cNvPr id="37" name="Straight Connector 36">
            <a:extLst>
              <a:ext uri="{FF2B5EF4-FFF2-40B4-BE49-F238E27FC236}">
                <a16:creationId xmlns:a16="http://schemas.microsoft.com/office/drawing/2014/main" id="{C1D26D3D-DC03-A114-9678-23EC06A60729}"/>
              </a:ext>
            </a:extLst>
          </p:cNvPr>
          <p:cNvCxnSpPr>
            <a:cxnSpLocks/>
          </p:cNvCxnSpPr>
          <p:nvPr/>
        </p:nvCxnSpPr>
        <p:spPr>
          <a:xfrm flipH="1">
            <a:off x="5270431" y="576087"/>
            <a:ext cx="235526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C9C8A81-23C5-51F5-7EA7-C3E3712E51BD}"/>
              </a:ext>
            </a:extLst>
          </p:cNvPr>
          <p:cNvSpPr txBox="1"/>
          <p:nvPr/>
        </p:nvSpPr>
        <p:spPr>
          <a:xfrm>
            <a:off x="7680528" y="1345748"/>
            <a:ext cx="2135834" cy="600164"/>
          </a:xfrm>
          <a:prstGeom prst="rect">
            <a:avLst/>
          </a:prstGeom>
          <a:noFill/>
        </p:spPr>
        <p:txBody>
          <a:bodyPr wrap="square" rtlCol="0">
            <a:spAutoFit/>
          </a:bodyPr>
          <a:lstStyle/>
          <a:p>
            <a:r>
              <a:rPr lang="en-US" sz="1100" i="1" dirty="0">
                <a:solidFill>
                  <a:srgbClr val="0070C0"/>
                </a:solidFill>
              </a:rPr>
              <a:t>Display the product information in some way (I’ve shown you possibilities here).</a:t>
            </a:r>
          </a:p>
        </p:txBody>
      </p:sp>
      <p:sp>
        <p:nvSpPr>
          <p:cNvPr id="41" name="TextBox 40">
            <a:extLst>
              <a:ext uri="{FF2B5EF4-FFF2-40B4-BE49-F238E27FC236}">
                <a16:creationId xmlns:a16="http://schemas.microsoft.com/office/drawing/2014/main" id="{C81001CB-E966-FAC5-7626-50DB30B50311}"/>
              </a:ext>
            </a:extLst>
          </p:cNvPr>
          <p:cNvSpPr txBox="1"/>
          <p:nvPr/>
        </p:nvSpPr>
        <p:spPr>
          <a:xfrm>
            <a:off x="7666928" y="2300602"/>
            <a:ext cx="2135834" cy="769441"/>
          </a:xfrm>
          <a:prstGeom prst="rect">
            <a:avLst/>
          </a:prstGeom>
          <a:noFill/>
        </p:spPr>
        <p:txBody>
          <a:bodyPr wrap="square" rtlCol="0">
            <a:spAutoFit/>
          </a:bodyPr>
          <a:lstStyle/>
          <a:p>
            <a:r>
              <a:rPr lang="en-US" sz="1100" i="1" dirty="0">
                <a:solidFill>
                  <a:srgbClr val="0070C0"/>
                </a:solidFill>
              </a:rPr>
              <a:t>You need the ability for user to enter a quantity (default is 1) for when item is added to shopping cart.</a:t>
            </a:r>
          </a:p>
        </p:txBody>
      </p:sp>
      <p:sp>
        <p:nvSpPr>
          <p:cNvPr id="42" name="TextBox 41">
            <a:extLst>
              <a:ext uri="{FF2B5EF4-FFF2-40B4-BE49-F238E27FC236}">
                <a16:creationId xmlns:a16="http://schemas.microsoft.com/office/drawing/2014/main" id="{0362A988-98DD-2952-B081-BF39E6E7F26F}"/>
              </a:ext>
            </a:extLst>
          </p:cNvPr>
          <p:cNvSpPr txBox="1"/>
          <p:nvPr/>
        </p:nvSpPr>
        <p:spPr>
          <a:xfrm>
            <a:off x="7625697" y="3638687"/>
            <a:ext cx="2135834" cy="600164"/>
          </a:xfrm>
          <a:prstGeom prst="rect">
            <a:avLst/>
          </a:prstGeom>
          <a:noFill/>
        </p:spPr>
        <p:txBody>
          <a:bodyPr wrap="square" rtlCol="0">
            <a:spAutoFit/>
          </a:bodyPr>
          <a:lstStyle/>
          <a:p>
            <a:r>
              <a:rPr lang="en-US" sz="1100" i="1" dirty="0">
                <a:solidFill>
                  <a:srgbClr val="0070C0"/>
                </a:solidFill>
              </a:rPr>
              <a:t>When user enters an item to cart, then use some type of toaster notification (see Lab9b).</a:t>
            </a:r>
          </a:p>
        </p:txBody>
      </p:sp>
      <p:sp>
        <p:nvSpPr>
          <p:cNvPr id="43" name="TextBox 42">
            <a:extLst>
              <a:ext uri="{FF2B5EF4-FFF2-40B4-BE49-F238E27FC236}">
                <a16:creationId xmlns:a16="http://schemas.microsoft.com/office/drawing/2014/main" id="{40D5664D-9101-43AF-E555-D84C8BBCD42B}"/>
              </a:ext>
            </a:extLst>
          </p:cNvPr>
          <p:cNvSpPr txBox="1"/>
          <p:nvPr/>
        </p:nvSpPr>
        <p:spPr>
          <a:xfrm>
            <a:off x="7625697" y="5008511"/>
            <a:ext cx="2135834" cy="938719"/>
          </a:xfrm>
          <a:prstGeom prst="rect">
            <a:avLst/>
          </a:prstGeom>
          <a:noFill/>
        </p:spPr>
        <p:txBody>
          <a:bodyPr wrap="square" rtlCol="0">
            <a:spAutoFit/>
          </a:bodyPr>
          <a:lstStyle/>
          <a:p>
            <a:r>
              <a:rPr lang="en-US" sz="1100" i="1" dirty="0">
                <a:solidFill>
                  <a:srgbClr val="0070C0"/>
                </a:solidFill>
              </a:rPr>
              <a:t>This is where some creativity will be needed. What makes an item a related product? Perhaps they have the same category? Similar price? Similar product name?</a:t>
            </a:r>
          </a:p>
        </p:txBody>
      </p:sp>
    </p:spTree>
    <p:extLst>
      <p:ext uri="{BB962C8B-B14F-4D97-AF65-F5344CB8AC3E}">
        <p14:creationId xmlns:p14="http://schemas.microsoft.com/office/powerpoint/2010/main" val="316185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B192-C7E8-5DB7-E990-CE77BC819D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3D14584-8F31-B09B-C2E0-D2AEBDB8EF9B}"/>
              </a:ext>
            </a:extLst>
          </p:cNvPr>
          <p:cNvSpPr/>
          <p:nvPr/>
        </p:nvSpPr>
        <p:spPr>
          <a:xfrm>
            <a:off x="880562" y="1241881"/>
            <a:ext cx="5215438" cy="53766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8F0CC60C-CB9E-84E6-289F-F69CF02A665F}"/>
              </a:ext>
            </a:extLst>
          </p:cNvPr>
          <p:cNvSpPr/>
          <p:nvPr/>
        </p:nvSpPr>
        <p:spPr>
          <a:xfrm>
            <a:off x="1036926" y="4544963"/>
            <a:ext cx="1505944" cy="10078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1E41495-5B4A-04D8-9F24-959140D7FFF6}"/>
              </a:ext>
            </a:extLst>
          </p:cNvPr>
          <p:cNvSpPr txBox="1"/>
          <p:nvPr/>
        </p:nvSpPr>
        <p:spPr>
          <a:xfrm>
            <a:off x="2145032" y="2294424"/>
            <a:ext cx="900744" cy="246221"/>
          </a:xfrm>
          <a:prstGeom prst="rect">
            <a:avLst/>
          </a:prstGeom>
          <a:noFill/>
        </p:spPr>
        <p:txBody>
          <a:bodyPr wrap="square" rtlCol="0">
            <a:spAutoFit/>
          </a:bodyPr>
          <a:lstStyle/>
          <a:p>
            <a:r>
              <a:rPr lang="en-US" sz="1000" dirty="0"/>
              <a:t>Product Title</a:t>
            </a:r>
          </a:p>
        </p:txBody>
      </p:sp>
      <p:sp>
        <p:nvSpPr>
          <p:cNvPr id="7" name="TextBox 6">
            <a:extLst>
              <a:ext uri="{FF2B5EF4-FFF2-40B4-BE49-F238E27FC236}">
                <a16:creationId xmlns:a16="http://schemas.microsoft.com/office/drawing/2014/main" id="{0E2CA432-42BB-3F81-3978-EDB10C0F09D6}"/>
              </a:ext>
            </a:extLst>
          </p:cNvPr>
          <p:cNvSpPr txBox="1"/>
          <p:nvPr/>
        </p:nvSpPr>
        <p:spPr>
          <a:xfrm>
            <a:off x="1378850" y="1679808"/>
            <a:ext cx="548072" cy="246221"/>
          </a:xfrm>
          <a:prstGeom prst="rect">
            <a:avLst/>
          </a:prstGeom>
          <a:noFill/>
        </p:spPr>
        <p:txBody>
          <a:bodyPr wrap="square" rtlCol="0">
            <a:spAutoFit/>
          </a:bodyPr>
          <a:lstStyle/>
          <a:p>
            <a:r>
              <a:rPr lang="en-US" sz="1000" b="1" dirty="0"/>
              <a:t>Items</a:t>
            </a:r>
          </a:p>
        </p:txBody>
      </p:sp>
      <p:sp>
        <p:nvSpPr>
          <p:cNvPr id="8" name="Rectangle 7">
            <a:extLst>
              <a:ext uri="{FF2B5EF4-FFF2-40B4-BE49-F238E27FC236}">
                <a16:creationId xmlns:a16="http://schemas.microsoft.com/office/drawing/2014/main" id="{7F1A0438-C888-05B6-D6C9-72109F9065A3}"/>
              </a:ext>
            </a:extLst>
          </p:cNvPr>
          <p:cNvSpPr/>
          <p:nvPr/>
        </p:nvSpPr>
        <p:spPr>
          <a:xfrm>
            <a:off x="3724865" y="2346312"/>
            <a:ext cx="167409" cy="1499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XS</a:t>
            </a:r>
          </a:p>
        </p:txBody>
      </p:sp>
      <p:sp>
        <p:nvSpPr>
          <p:cNvPr id="18" name="Rounded Rectangle 68">
            <a:extLst>
              <a:ext uri="{FF2B5EF4-FFF2-40B4-BE49-F238E27FC236}">
                <a16:creationId xmlns:a16="http://schemas.microsoft.com/office/drawing/2014/main" id="{7C57F8B3-53B3-6B7A-BDA2-ABDCBC341252}"/>
              </a:ext>
            </a:extLst>
          </p:cNvPr>
          <p:cNvSpPr/>
          <p:nvPr/>
        </p:nvSpPr>
        <p:spPr>
          <a:xfrm>
            <a:off x="3703770" y="6197766"/>
            <a:ext cx="939698"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766A2D-BD44-4568-5532-0AB9E198B693}"/>
              </a:ext>
            </a:extLst>
          </p:cNvPr>
          <p:cNvSpPr txBox="1"/>
          <p:nvPr/>
        </p:nvSpPr>
        <p:spPr>
          <a:xfrm>
            <a:off x="3729307" y="6208522"/>
            <a:ext cx="779829" cy="276999"/>
          </a:xfrm>
          <a:prstGeom prst="rect">
            <a:avLst/>
          </a:prstGeom>
          <a:noFill/>
        </p:spPr>
        <p:txBody>
          <a:bodyPr wrap="none" rtlCol="0">
            <a:spAutoFit/>
          </a:bodyPr>
          <a:lstStyle/>
          <a:p>
            <a:r>
              <a:rPr lang="en-US" sz="1200" b="1" dirty="0"/>
              <a:t>Checkout</a:t>
            </a:r>
          </a:p>
        </p:txBody>
      </p:sp>
      <p:sp>
        <p:nvSpPr>
          <p:cNvPr id="9" name="TextBox 8">
            <a:extLst>
              <a:ext uri="{FF2B5EF4-FFF2-40B4-BE49-F238E27FC236}">
                <a16:creationId xmlns:a16="http://schemas.microsoft.com/office/drawing/2014/main" id="{B5820A6C-18D6-97F7-708F-0F35C649019A}"/>
              </a:ext>
            </a:extLst>
          </p:cNvPr>
          <p:cNvSpPr txBox="1"/>
          <p:nvPr/>
        </p:nvSpPr>
        <p:spPr>
          <a:xfrm>
            <a:off x="3161938" y="1679236"/>
            <a:ext cx="548072" cy="246221"/>
          </a:xfrm>
          <a:prstGeom prst="rect">
            <a:avLst/>
          </a:prstGeom>
          <a:noFill/>
        </p:spPr>
        <p:txBody>
          <a:bodyPr wrap="square" rtlCol="0">
            <a:spAutoFit/>
          </a:bodyPr>
          <a:lstStyle/>
          <a:p>
            <a:r>
              <a:rPr lang="en-US" sz="1000" b="1" dirty="0"/>
              <a:t>Color</a:t>
            </a:r>
          </a:p>
        </p:txBody>
      </p:sp>
      <p:sp>
        <p:nvSpPr>
          <p:cNvPr id="13" name="TextBox 12">
            <a:extLst>
              <a:ext uri="{FF2B5EF4-FFF2-40B4-BE49-F238E27FC236}">
                <a16:creationId xmlns:a16="http://schemas.microsoft.com/office/drawing/2014/main" id="{C4E5F5CD-7AA2-BEEA-FEA3-543024449534}"/>
              </a:ext>
            </a:extLst>
          </p:cNvPr>
          <p:cNvSpPr txBox="1"/>
          <p:nvPr/>
        </p:nvSpPr>
        <p:spPr>
          <a:xfrm>
            <a:off x="3604357" y="1670189"/>
            <a:ext cx="548072" cy="246221"/>
          </a:xfrm>
          <a:prstGeom prst="rect">
            <a:avLst/>
          </a:prstGeom>
          <a:noFill/>
        </p:spPr>
        <p:txBody>
          <a:bodyPr wrap="square" rtlCol="0">
            <a:spAutoFit/>
          </a:bodyPr>
          <a:lstStyle/>
          <a:p>
            <a:r>
              <a:rPr lang="en-US" sz="1000" b="1" dirty="0"/>
              <a:t>Size</a:t>
            </a:r>
          </a:p>
        </p:txBody>
      </p:sp>
      <p:sp>
        <p:nvSpPr>
          <p:cNvPr id="16" name="TextBox 15">
            <a:extLst>
              <a:ext uri="{FF2B5EF4-FFF2-40B4-BE49-F238E27FC236}">
                <a16:creationId xmlns:a16="http://schemas.microsoft.com/office/drawing/2014/main" id="{70B8B422-A153-4641-2484-C5442718234F}"/>
              </a:ext>
            </a:extLst>
          </p:cNvPr>
          <p:cNvSpPr txBox="1"/>
          <p:nvPr/>
        </p:nvSpPr>
        <p:spPr>
          <a:xfrm>
            <a:off x="4063562" y="1679236"/>
            <a:ext cx="548072" cy="246221"/>
          </a:xfrm>
          <a:prstGeom prst="rect">
            <a:avLst/>
          </a:prstGeom>
          <a:noFill/>
        </p:spPr>
        <p:txBody>
          <a:bodyPr wrap="square" rtlCol="0">
            <a:spAutoFit/>
          </a:bodyPr>
          <a:lstStyle/>
          <a:p>
            <a:r>
              <a:rPr lang="en-US" sz="1000" b="1" dirty="0"/>
              <a:t>Price</a:t>
            </a:r>
          </a:p>
        </p:txBody>
      </p:sp>
      <p:sp>
        <p:nvSpPr>
          <p:cNvPr id="17" name="TextBox 16">
            <a:extLst>
              <a:ext uri="{FF2B5EF4-FFF2-40B4-BE49-F238E27FC236}">
                <a16:creationId xmlns:a16="http://schemas.microsoft.com/office/drawing/2014/main" id="{20C91740-0B70-DCA4-211E-B2BBFD970F40}"/>
              </a:ext>
            </a:extLst>
          </p:cNvPr>
          <p:cNvSpPr txBox="1"/>
          <p:nvPr/>
        </p:nvSpPr>
        <p:spPr>
          <a:xfrm>
            <a:off x="4586526" y="1679236"/>
            <a:ext cx="751380" cy="246221"/>
          </a:xfrm>
          <a:prstGeom prst="rect">
            <a:avLst/>
          </a:prstGeom>
          <a:noFill/>
        </p:spPr>
        <p:txBody>
          <a:bodyPr wrap="square" rtlCol="0">
            <a:spAutoFit/>
          </a:bodyPr>
          <a:lstStyle/>
          <a:p>
            <a:r>
              <a:rPr lang="en-US" sz="1000" b="1" dirty="0"/>
              <a:t>Quantity</a:t>
            </a:r>
          </a:p>
        </p:txBody>
      </p:sp>
      <p:sp>
        <p:nvSpPr>
          <p:cNvPr id="21" name="TextBox 20">
            <a:extLst>
              <a:ext uri="{FF2B5EF4-FFF2-40B4-BE49-F238E27FC236}">
                <a16:creationId xmlns:a16="http://schemas.microsoft.com/office/drawing/2014/main" id="{A3574988-9776-3DB0-1FD6-B77B90A5334A}"/>
              </a:ext>
            </a:extLst>
          </p:cNvPr>
          <p:cNvSpPr txBox="1"/>
          <p:nvPr/>
        </p:nvSpPr>
        <p:spPr>
          <a:xfrm>
            <a:off x="5236102" y="1679808"/>
            <a:ext cx="751380" cy="246221"/>
          </a:xfrm>
          <a:prstGeom prst="rect">
            <a:avLst/>
          </a:prstGeom>
          <a:noFill/>
        </p:spPr>
        <p:txBody>
          <a:bodyPr wrap="square" rtlCol="0">
            <a:spAutoFit/>
          </a:bodyPr>
          <a:lstStyle/>
          <a:p>
            <a:r>
              <a:rPr lang="en-US" sz="1000" b="1" dirty="0"/>
              <a:t>Subtotal</a:t>
            </a:r>
          </a:p>
        </p:txBody>
      </p:sp>
      <p:sp>
        <p:nvSpPr>
          <p:cNvPr id="26" name="Rectangle 25">
            <a:extLst>
              <a:ext uri="{FF2B5EF4-FFF2-40B4-BE49-F238E27FC236}">
                <a16:creationId xmlns:a16="http://schemas.microsoft.com/office/drawing/2014/main" id="{79765550-0DC6-9598-3FBD-C043A0D396F2}"/>
              </a:ext>
            </a:extLst>
          </p:cNvPr>
          <p:cNvSpPr/>
          <p:nvPr/>
        </p:nvSpPr>
        <p:spPr>
          <a:xfrm>
            <a:off x="1181229" y="4703113"/>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238F6BBD-EAF4-D850-4821-8497A1393058}"/>
              </a:ext>
            </a:extLst>
          </p:cNvPr>
          <p:cNvSpPr/>
          <p:nvPr/>
        </p:nvSpPr>
        <p:spPr>
          <a:xfrm rot="10800000">
            <a:off x="2102881" y="4796449"/>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0160C82D-6F18-F3E8-DFDE-1DECA75A6369}"/>
              </a:ext>
            </a:extLst>
          </p:cNvPr>
          <p:cNvSpPr txBox="1"/>
          <p:nvPr/>
        </p:nvSpPr>
        <p:spPr>
          <a:xfrm>
            <a:off x="1181229" y="4693686"/>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Standard</a:t>
            </a:r>
          </a:p>
        </p:txBody>
      </p:sp>
      <p:sp>
        <p:nvSpPr>
          <p:cNvPr id="30" name="TextBox 29">
            <a:extLst>
              <a:ext uri="{FF2B5EF4-FFF2-40B4-BE49-F238E27FC236}">
                <a16:creationId xmlns:a16="http://schemas.microsoft.com/office/drawing/2014/main" id="{FAC1DE38-1402-2AFE-363D-A5C097041058}"/>
              </a:ext>
            </a:extLst>
          </p:cNvPr>
          <p:cNvSpPr txBox="1"/>
          <p:nvPr/>
        </p:nvSpPr>
        <p:spPr>
          <a:xfrm>
            <a:off x="1174440" y="4312053"/>
            <a:ext cx="900743" cy="246221"/>
          </a:xfrm>
          <a:prstGeom prst="rect">
            <a:avLst/>
          </a:prstGeom>
          <a:noFill/>
        </p:spPr>
        <p:txBody>
          <a:bodyPr wrap="square" rtlCol="0">
            <a:spAutoFit/>
          </a:bodyPr>
          <a:lstStyle/>
          <a:p>
            <a:r>
              <a:rPr lang="en-US" sz="1000" b="1" dirty="0"/>
              <a:t>Shipping</a:t>
            </a:r>
          </a:p>
        </p:txBody>
      </p:sp>
      <p:sp>
        <p:nvSpPr>
          <p:cNvPr id="31" name="Rectangle 30">
            <a:extLst>
              <a:ext uri="{FF2B5EF4-FFF2-40B4-BE49-F238E27FC236}">
                <a16:creationId xmlns:a16="http://schemas.microsoft.com/office/drawing/2014/main" id="{EF93388B-94C4-B5CA-3A94-823DE8DCF93E}"/>
              </a:ext>
            </a:extLst>
          </p:cNvPr>
          <p:cNvSpPr/>
          <p:nvPr/>
        </p:nvSpPr>
        <p:spPr>
          <a:xfrm>
            <a:off x="1174440" y="5141674"/>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0419F097-646E-C075-CDEC-42A838B6D7B1}"/>
              </a:ext>
            </a:extLst>
          </p:cNvPr>
          <p:cNvSpPr/>
          <p:nvPr/>
        </p:nvSpPr>
        <p:spPr>
          <a:xfrm rot="10800000">
            <a:off x="2096092" y="5235010"/>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2">
            <a:extLst>
              <a:ext uri="{FF2B5EF4-FFF2-40B4-BE49-F238E27FC236}">
                <a16:creationId xmlns:a16="http://schemas.microsoft.com/office/drawing/2014/main" id="{39160DE0-5523-5ECD-856C-11F70B9D3EFF}"/>
              </a:ext>
            </a:extLst>
          </p:cNvPr>
          <p:cNvSpPr txBox="1"/>
          <p:nvPr/>
        </p:nvSpPr>
        <p:spPr>
          <a:xfrm>
            <a:off x="1174440" y="5132247"/>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Canada</a:t>
            </a:r>
          </a:p>
        </p:txBody>
      </p:sp>
      <p:sp>
        <p:nvSpPr>
          <p:cNvPr id="34" name="TextBox 33">
            <a:extLst>
              <a:ext uri="{FF2B5EF4-FFF2-40B4-BE49-F238E27FC236}">
                <a16:creationId xmlns:a16="http://schemas.microsoft.com/office/drawing/2014/main" id="{E6F70DDA-199B-E191-9BB7-A1F4041BF722}"/>
              </a:ext>
            </a:extLst>
          </p:cNvPr>
          <p:cNvSpPr txBox="1"/>
          <p:nvPr/>
        </p:nvSpPr>
        <p:spPr>
          <a:xfrm>
            <a:off x="3014544" y="4312052"/>
            <a:ext cx="900743" cy="246221"/>
          </a:xfrm>
          <a:prstGeom prst="rect">
            <a:avLst/>
          </a:prstGeom>
          <a:noFill/>
        </p:spPr>
        <p:txBody>
          <a:bodyPr wrap="square" rtlCol="0">
            <a:spAutoFit/>
          </a:bodyPr>
          <a:lstStyle/>
          <a:p>
            <a:r>
              <a:rPr lang="en-US" sz="1000" b="1" dirty="0"/>
              <a:t>Summary</a:t>
            </a:r>
          </a:p>
        </p:txBody>
      </p:sp>
      <p:sp>
        <p:nvSpPr>
          <p:cNvPr id="35" name="Rectangle 34">
            <a:extLst>
              <a:ext uri="{FF2B5EF4-FFF2-40B4-BE49-F238E27FC236}">
                <a16:creationId xmlns:a16="http://schemas.microsoft.com/office/drawing/2014/main" id="{6663A9C5-BD95-F3BF-2B00-509D49440836}"/>
              </a:ext>
            </a:extLst>
          </p:cNvPr>
          <p:cNvSpPr/>
          <p:nvPr/>
        </p:nvSpPr>
        <p:spPr>
          <a:xfrm>
            <a:off x="2931909" y="4569508"/>
            <a:ext cx="2702888" cy="15119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D513ACD4-FA12-9B89-DBEB-87E2C815D7EB}"/>
              </a:ext>
            </a:extLst>
          </p:cNvPr>
          <p:cNvSpPr txBox="1"/>
          <p:nvPr/>
        </p:nvSpPr>
        <p:spPr>
          <a:xfrm>
            <a:off x="2987006" y="4730241"/>
            <a:ext cx="955029" cy="246221"/>
          </a:xfrm>
          <a:prstGeom prst="rect">
            <a:avLst/>
          </a:prstGeom>
          <a:noFill/>
        </p:spPr>
        <p:txBody>
          <a:bodyPr wrap="square" rtlCol="0">
            <a:spAutoFit/>
          </a:bodyPr>
          <a:lstStyle/>
          <a:p>
            <a:r>
              <a:rPr lang="en-US" sz="1000" dirty="0"/>
              <a:t>Merchandise</a:t>
            </a:r>
          </a:p>
        </p:txBody>
      </p:sp>
      <p:sp>
        <p:nvSpPr>
          <p:cNvPr id="37" name="TextBox 36">
            <a:extLst>
              <a:ext uri="{FF2B5EF4-FFF2-40B4-BE49-F238E27FC236}">
                <a16:creationId xmlns:a16="http://schemas.microsoft.com/office/drawing/2014/main" id="{21306B5B-A34D-F075-BB53-D956280AF9C9}"/>
              </a:ext>
            </a:extLst>
          </p:cNvPr>
          <p:cNvSpPr txBox="1"/>
          <p:nvPr/>
        </p:nvSpPr>
        <p:spPr>
          <a:xfrm>
            <a:off x="3024449" y="5112571"/>
            <a:ext cx="955029" cy="246221"/>
          </a:xfrm>
          <a:prstGeom prst="rect">
            <a:avLst/>
          </a:prstGeom>
          <a:noFill/>
        </p:spPr>
        <p:txBody>
          <a:bodyPr wrap="square" rtlCol="0">
            <a:spAutoFit/>
          </a:bodyPr>
          <a:lstStyle/>
          <a:p>
            <a:r>
              <a:rPr lang="en-US" sz="1000" dirty="0"/>
              <a:t>Shipping</a:t>
            </a:r>
          </a:p>
        </p:txBody>
      </p:sp>
      <p:sp>
        <p:nvSpPr>
          <p:cNvPr id="38" name="TextBox 37">
            <a:extLst>
              <a:ext uri="{FF2B5EF4-FFF2-40B4-BE49-F238E27FC236}">
                <a16:creationId xmlns:a16="http://schemas.microsoft.com/office/drawing/2014/main" id="{FB05D2FF-49EC-45B8-7A92-FDA98D9CB8A6}"/>
              </a:ext>
            </a:extLst>
          </p:cNvPr>
          <p:cNvSpPr txBox="1"/>
          <p:nvPr/>
        </p:nvSpPr>
        <p:spPr>
          <a:xfrm>
            <a:off x="3054679" y="5429311"/>
            <a:ext cx="955029" cy="246221"/>
          </a:xfrm>
          <a:prstGeom prst="rect">
            <a:avLst/>
          </a:prstGeom>
          <a:noFill/>
        </p:spPr>
        <p:txBody>
          <a:bodyPr wrap="square" rtlCol="0">
            <a:spAutoFit/>
          </a:bodyPr>
          <a:lstStyle/>
          <a:p>
            <a:r>
              <a:rPr lang="en-US" sz="1000" dirty="0"/>
              <a:t>Tax</a:t>
            </a:r>
          </a:p>
        </p:txBody>
      </p:sp>
      <p:sp>
        <p:nvSpPr>
          <p:cNvPr id="39" name="TextBox 38">
            <a:extLst>
              <a:ext uri="{FF2B5EF4-FFF2-40B4-BE49-F238E27FC236}">
                <a16:creationId xmlns:a16="http://schemas.microsoft.com/office/drawing/2014/main" id="{AF1C5F73-A19B-C006-F0FA-09D2622482B6}"/>
              </a:ext>
            </a:extLst>
          </p:cNvPr>
          <p:cNvSpPr txBox="1"/>
          <p:nvPr/>
        </p:nvSpPr>
        <p:spPr>
          <a:xfrm>
            <a:off x="3075445" y="5768248"/>
            <a:ext cx="955029" cy="246221"/>
          </a:xfrm>
          <a:prstGeom prst="rect">
            <a:avLst/>
          </a:prstGeom>
          <a:noFill/>
        </p:spPr>
        <p:txBody>
          <a:bodyPr wrap="square" rtlCol="0">
            <a:spAutoFit/>
          </a:bodyPr>
          <a:lstStyle/>
          <a:p>
            <a:r>
              <a:rPr lang="en-US" sz="1000" b="1" dirty="0"/>
              <a:t>Total</a:t>
            </a:r>
          </a:p>
        </p:txBody>
      </p:sp>
      <p:sp>
        <p:nvSpPr>
          <p:cNvPr id="40" name="TextBox 39">
            <a:extLst>
              <a:ext uri="{FF2B5EF4-FFF2-40B4-BE49-F238E27FC236}">
                <a16:creationId xmlns:a16="http://schemas.microsoft.com/office/drawing/2014/main" id="{4A8A4782-7A6E-6179-C205-88FE05E8CB2E}"/>
              </a:ext>
            </a:extLst>
          </p:cNvPr>
          <p:cNvSpPr txBox="1"/>
          <p:nvPr/>
        </p:nvSpPr>
        <p:spPr>
          <a:xfrm>
            <a:off x="4623867" y="4730241"/>
            <a:ext cx="955029" cy="246221"/>
          </a:xfrm>
          <a:prstGeom prst="rect">
            <a:avLst/>
          </a:prstGeom>
          <a:noFill/>
        </p:spPr>
        <p:txBody>
          <a:bodyPr wrap="square" rtlCol="0">
            <a:spAutoFit/>
          </a:bodyPr>
          <a:lstStyle/>
          <a:p>
            <a:pPr algn="r"/>
            <a:r>
              <a:rPr lang="en-US" sz="1000" dirty="0"/>
              <a:t>$400.00</a:t>
            </a:r>
          </a:p>
        </p:txBody>
      </p:sp>
      <p:sp>
        <p:nvSpPr>
          <p:cNvPr id="41" name="TextBox 40">
            <a:extLst>
              <a:ext uri="{FF2B5EF4-FFF2-40B4-BE49-F238E27FC236}">
                <a16:creationId xmlns:a16="http://schemas.microsoft.com/office/drawing/2014/main" id="{99A6E6EA-B9ED-2FAC-2BEC-355A84A746B5}"/>
              </a:ext>
            </a:extLst>
          </p:cNvPr>
          <p:cNvSpPr txBox="1"/>
          <p:nvPr/>
        </p:nvSpPr>
        <p:spPr>
          <a:xfrm>
            <a:off x="4595446" y="5130545"/>
            <a:ext cx="955029" cy="246221"/>
          </a:xfrm>
          <a:prstGeom prst="rect">
            <a:avLst/>
          </a:prstGeom>
          <a:noFill/>
        </p:spPr>
        <p:txBody>
          <a:bodyPr wrap="square" rtlCol="0">
            <a:spAutoFit/>
          </a:bodyPr>
          <a:lstStyle/>
          <a:p>
            <a:pPr algn="r"/>
            <a:r>
              <a:rPr lang="en-US" sz="1000" dirty="0"/>
              <a:t>$40.00</a:t>
            </a:r>
          </a:p>
        </p:txBody>
      </p:sp>
      <p:sp>
        <p:nvSpPr>
          <p:cNvPr id="42" name="TextBox 41">
            <a:extLst>
              <a:ext uri="{FF2B5EF4-FFF2-40B4-BE49-F238E27FC236}">
                <a16:creationId xmlns:a16="http://schemas.microsoft.com/office/drawing/2014/main" id="{AFC19894-5AB0-1214-C94B-99326F5A3012}"/>
              </a:ext>
            </a:extLst>
          </p:cNvPr>
          <p:cNvSpPr txBox="1"/>
          <p:nvPr/>
        </p:nvSpPr>
        <p:spPr>
          <a:xfrm>
            <a:off x="4621484" y="5388282"/>
            <a:ext cx="955029" cy="246221"/>
          </a:xfrm>
          <a:prstGeom prst="rect">
            <a:avLst/>
          </a:prstGeom>
          <a:noFill/>
        </p:spPr>
        <p:txBody>
          <a:bodyPr wrap="square" rtlCol="0">
            <a:spAutoFit/>
          </a:bodyPr>
          <a:lstStyle/>
          <a:p>
            <a:pPr algn="r"/>
            <a:r>
              <a:rPr lang="en-US" sz="1000" dirty="0"/>
              <a:t>$20.00</a:t>
            </a:r>
          </a:p>
        </p:txBody>
      </p:sp>
      <p:sp>
        <p:nvSpPr>
          <p:cNvPr id="43" name="TextBox 42">
            <a:extLst>
              <a:ext uri="{FF2B5EF4-FFF2-40B4-BE49-F238E27FC236}">
                <a16:creationId xmlns:a16="http://schemas.microsoft.com/office/drawing/2014/main" id="{F81EB234-FC8B-50D1-B79A-C49B841E9571}"/>
              </a:ext>
            </a:extLst>
          </p:cNvPr>
          <p:cNvSpPr txBox="1"/>
          <p:nvPr/>
        </p:nvSpPr>
        <p:spPr>
          <a:xfrm>
            <a:off x="4621483" y="5720474"/>
            <a:ext cx="955029" cy="246221"/>
          </a:xfrm>
          <a:prstGeom prst="rect">
            <a:avLst/>
          </a:prstGeom>
          <a:noFill/>
        </p:spPr>
        <p:txBody>
          <a:bodyPr wrap="square" rtlCol="0">
            <a:spAutoFit/>
          </a:bodyPr>
          <a:lstStyle/>
          <a:p>
            <a:pPr algn="r"/>
            <a:r>
              <a:rPr lang="en-US" sz="1000" b="1" dirty="0"/>
              <a:t>$460.00</a:t>
            </a:r>
          </a:p>
        </p:txBody>
      </p:sp>
      <p:sp>
        <p:nvSpPr>
          <p:cNvPr id="44" name="Rectangle 43">
            <a:extLst>
              <a:ext uri="{FF2B5EF4-FFF2-40B4-BE49-F238E27FC236}">
                <a16:creationId xmlns:a16="http://schemas.microsoft.com/office/drawing/2014/main" id="{6F49081C-D8DE-48C6-8D4E-BC11B40086A6}"/>
              </a:ext>
            </a:extLst>
          </p:cNvPr>
          <p:cNvSpPr/>
          <p:nvPr/>
        </p:nvSpPr>
        <p:spPr>
          <a:xfrm rot="10800000" flipH="1" flipV="1">
            <a:off x="1297185" y="1999116"/>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45" name="Rectangle 44">
            <a:extLst>
              <a:ext uri="{FF2B5EF4-FFF2-40B4-BE49-F238E27FC236}">
                <a16:creationId xmlns:a16="http://schemas.microsoft.com/office/drawing/2014/main" id="{701DFEA0-059E-C6F9-F1B3-69386DDB4A3A}"/>
              </a:ext>
            </a:extLst>
          </p:cNvPr>
          <p:cNvSpPr/>
          <p:nvPr/>
        </p:nvSpPr>
        <p:spPr>
          <a:xfrm>
            <a:off x="3330487" y="2337689"/>
            <a:ext cx="166998" cy="1585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6" name="Rectangle 45">
            <a:extLst>
              <a:ext uri="{FF2B5EF4-FFF2-40B4-BE49-F238E27FC236}">
                <a16:creationId xmlns:a16="http://schemas.microsoft.com/office/drawing/2014/main" id="{422B2A5F-AE9B-2ED5-6B46-F5B9DE628BD8}"/>
              </a:ext>
            </a:extLst>
          </p:cNvPr>
          <p:cNvSpPr/>
          <p:nvPr/>
        </p:nvSpPr>
        <p:spPr>
          <a:xfrm rot="10800000" flipH="1" flipV="1">
            <a:off x="1308220" y="2962127"/>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placeholder</a:t>
            </a:r>
          </a:p>
        </p:txBody>
      </p:sp>
      <p:sp>
        <p:nvSpPr>
          <p:cNvPr id="47" name="TextBox 46">
            <a:extLst>
              <a:ext uri="{FF2B5EF4-FFF2-40B4-BE49-F238E27FC236}">
                <a16:creationId xmlns:a16="http://schemas.microsoft.com/office/drawing/2014/main" id="{547DEE2E-34A8-ACC7-ABD6-5C128F6B6687}"/>
              </a:ext>
            </a:extLst>
          </p:cNvPr>
          <p:cNvSpPr txBox="1"/>
          <p:nvPr/>
        </p:nvSpPr>
        <p:spPr>
          <a:xfrm>
            <a:off x="4058232" y="2294424"/>
            <a:ext cx="548072" cy="246221"/>
          </a:xfrm>
          <a:prstGeom prst="rect">
            <a:avLst/>
          </a:prstGeom>
          <a:noFill/>
        </p:spPr>
        <p:txBody>
          <a:bodyPr wrap="square" rtlCol="0">
            <a:spAutoFit/>
          </a:bodyPr>
          <a:lstStyle/>
          <a:p>
            <a:pPr algn="r"/>
            <a:r>
              <a:rPr lang="en-US" sz="1000" dirty="0"/>
              <a:t>$80.00</a:t>
            </a:r>
          </a:p>
        </p:txBody>
      </p:sp>
      <p:sp>
        <p:nvSpPr>
          <p:cNvPr id="48" name="TextBox 47">
            <a:extLst>
              <a:ext uri="{FF2B5EF4-FFF2-40B4-BE49-F238E27FC236}">
                <a16:creationId xmlns:a16="http://schemas.microsoft.com/office/drawing/2014/main" id="{22D2A116-02C9-C4CB-18B1-BEA0436D01FE}"/>
              </a:ext>
            </a:extLst>
          </p:cNvPr>
          <p:cNvSpPr txBox="1"/>
          <p:nvPr/>
        </p:nvSpPr>
        <p:spPr>
          <a:xfrm>
            <a:off x="4815568" y="2258771"/>
            <a:ext cx="258774" cy="246221"/>
          </a:xfrm>
          <a:prstGeom prst="rect">
            <a:avLst/>
          </a:prstGeom>
          <a:noFill/>
        </p:spPr>
        <p:txBody>
          <a:bodyPr wrap="square" rtlCol="0">
            <a:spAutoFit/>
          </a:bodyPr>
          <a:lstStyle/>
          <a:p>
            <a:pPr algn="r"/>
            <a:r>
              <a:rPr lang="en-US" sz="1000" dirty="0"/>
              <a:t>2</a:t>
            </a:r>
          </a:p>
        </p:txBody>
      </p:sp>
      <p:sp>
        <p:nvSpPr>
          <p:cNvPr id="49" name="TextBox 48">
            <a:extLst>
              <a:ext uri="{FF2B5EF4-FFF2-40B4-BE49-F238E27FC236}">
                <a16:creationId xmlns:a16="http://schemas.microsoft.com/office/drawing/2014/main" id="{AA226A9D-047C-E04E-8F6E-F5A41F745B1B}"/>
              </a:ext>
            </a:extLst>
          </p:cNvPr>
          <p:cNvSpPr txBox="1"/>
          <p:nvPr/>
        </p:nvSpPr>
        <p:spPr>
          <a:xfrm>
            <a:off x="5147893" y="2258771"/>
            <a:ext cx="711402" cy="246221"/>
          </a:xfrm>
          <a:prstGeom prst="rect">
            <a:avLst/>
          </a:prstGeom>
          <a:noFill/>
        </p:spPr>
        <p:txBody>
          <a:bodyPr wrap="square" rtlCol="0">
            <a:spAutoFit/>
          </a:bodyPr>
          <a:lstStyle/>
          <a:p>
            <a:pPr algn="r"/>
            <a:r>
              <a:rPr lang="en-US" sz="1000" dirty="0"/>
              <a:t>$160.00</a:t>
            </a:r>
          </a:p>
        </p:txBody>
      </p:sp>
      <p:sp>
        <p:nvSpPr>
          <p:cNvPr id="22" name="TextBox 21">
            <a:extLst>
              <a:ext uri="{FF2B5EF4-FFF2-40B4-BE49-F238E27FC236}">
                <a16:creationId xmlns:a16="http://schemas.microsoft.com/office/drawing/2014/main" id="{D0AC87F2-8CCB-3096-2B47-CEB10DF31302}"/>
              </a:ext>
            </a:extLst>
          </p:cNvPr>
          <p:cNvSpPr txBox="1"/>
          <p:nvPr/>
        </p:nvSpPr>
        <p:spPr>
          <a:xfrm>
            <a:off x="6241542" y="1355133"/>
            <a:ext cx="2135834" cy="2123658"/>
          </a:xfrm>
          <a:prstGeom prst="rect">
            <a:avLst/>
          </a:prstGeom>
          <a:noFill/>
        </p:spPr>
        <p:txBody>
          <a:bodyPr wrap="square" rtlCol="0">
            <a:spAutoFit/>
          </a:bodyPr>
          <a:lstStyle/>
          <a:p>
            <a:r>
              <a:rPr lang="en-US" sz="1100" i="1" dirty="0">
                <a:solidFill>
                  <a:srgbClr val="0070C0"/>
                </a:solidFill>
              </a:rPr>
              <a:t>Display all the items in the cart, displaying the info shown here. </a:t>
            </a:r>
          </a:p>
          <a:p>
            <a:endParaRPr lang="en-US" sz="1100" i="1" dirty="0">
              <a:solidFill>
                <a:srgbClr val="0070C0"/>
              </a:solidFill>
            </a:endParaRPr>
          </a:p>
          <a:p>
            <a:r>
              <a:rPr lang="en-US" sz="1100" i="1" dirty="0">
                <a:solidFill>
                  <a:srgbClr val="0070C0"/>
                </a:solidFill>
              </a:rPr>
              <a:t>If cart is empty, tell the user that this is the case, and disable the Shipping options and the checkout button.</a:t>
            </a:r>
          </a:p>
          <a:p>
            <a:endParaRPr lang="en-US" sz="1100" i="1" dirty="0">
              <a:solidFill>
                <a:srgbClr val="0070C0"/>
              </a:solidFill>
            </a:endParaRPr>
          </a:p>
          <a:p>
            <a:r>
              <a:rPr lang="en-US" sz="1100" i="1" dirty="0">
                <a:solidFill>
                  <a:srgbClr val="0070C0"/>
                </a:solidFill>
              </a:rPr>
              <a:t>There should also be a way to delete each item in the cart. When this happens the info here should be re-displayed.</a:t>
            </a:r>
          </a:p>
        </p:txBody>
      </p:sp>
      <p:sp>
        <p:nvSpPr>
          <p:cNvPr id="23" name="TextBox 22">
            <a:extLst>
              <a:ext uri="{FF2B5EF4-FFF2-40B4-BE49-F238E27FC236}">
                <a16:creationId xmlns:a16="http://schemas.microsoft.com/office/drawing/2014/main" id="{197FE9EE-9502-DB05-3A0F-D4DAA6F1996A}"/>
              </a:ext>
            </a:extLst>
          </p:cNvPr>
          <p:cNvSpPr txBox="1"/>
          <p:nvPr/>
        </p:nvSpPr>
        <p:spPr>
          <a:xfrm>
            <a:off x="2597452" y="1333390"/>
            <a:ext cx="1337443" cy="276999"/>
          </a:xfrm>
          <a:prstGeom prst="rect">
            <a:avLst/>
          </a:prstGeom>
          <a:noFill/>
        </p:spPr>
        <p:txBody>
          <a:bodyPr wrap="square" rtlCol="0">
            <a:spAutoFit/>
          </a:bodyPr>
          <a:lstStyle/>
          <a:p>
            <a:r>
              <a:rPr lang="en-US" sz="1200" b="1" dirty="0"/>
              <a:t>Shopping Cart</a:t>
            </a:r>
          </a:p>
        </p:txBody>
      </p:sp>
      <p:sp>
        <p:nvSpPr>
          <p:cNvPr id="24" name="Rectangle 23">
            <a:extLst>
              <a:ext uri="{FF2B5EF4-FFF2-40B4-BE49-F238E27FC236}">
                <a16:creationId xmlns:a16="http://schemas.microsoft.com/office/drawing/2014/main" id="{DA577176-A781-5BFA-0F13-A9A17DA0AA36}"/>
              </a:ext>
            </a:extLst>
          </p:cNvPr>
          <p:cNvSpPr/>
          <p:nvPr/>
        </p:nvSpPr>
        <p:spPr>
          <a:xfrm>
            <a:off x="1012473" y="232297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5" name="Rectangle 24">
            <a:extLst>
              <a:ext uri="{FF2B5EF4-FFF2-40B4-BE49-F238E27FC236}">
                <a16:creationId xmlns:a16="http://schemas.microsoft.com/office/drawing/2014/main" id="{88C79BFE-0394-075F-B53C-05FE566BDF16}"/>
              </a:ext>
            </a:extLst>
          </p:cNvPr>
          <p:cNvSpPr/>
          <p:nvPr/>
        </p:nvSpPr>
        <p:spPr>
          <a:xfrm>
            <a:off x="975146" y="327443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52" name="TextBox 51">
            <a:extLst>
              <a:ext uri="{FF2B5EF4-FFF2-40B4-BE49-F238E27FC236}">
                <a16:creationId xmlns:a16="http://schemas.microsoft.com/office/drawing/2014/main" id="{B3E89B78-7225-F8C6-8AD0-6299175E7F74}"/>
              </a:ext>
            </a:extLst>
          </p:cNvPr>
          <p:cNvSpPr txBox="1"/>
          <p:nvPr/>
        </p:nvSpPr>
        <p:spPr>
          <a:xfrm>
            <a:off x="6258344" y="3749988"/>
            <a:ext cx="2135834" cy="2970044"/>
          </a:xfrm>
          <a:prstGeom prst="rect">
            <a:avLst/>
          </a:prstGeom>
          <a:noFill/>
        </p:spPr>
        <p:txBody>
          <a:bodyPr wrap="square" rtlCol="0">
            <a:spAutoFit/>
          </a:bodyPr>
          <a:lstStyle/>
          <a:p>
            <a:r>
              <a:rPr lang="en-US" sz="1100" i="1" dirty="0">
                <a:solidFill>
                  <a:srgbClr val="0070C0"/>
                </a:solidFill>
              </a:rPr>
              <a:t>Shipping choices: Standard, Express, Priority</a:t>
            </a:r>
          </a:p>
          <a:p>
            <a:endParaRPr lang="en-US" sz="1100" i="1" dirty="0">
              <a:solidFill>
                <a:srgbClr val="0070C0"/>
              </a:solidFill>
            </a:endParaRPr>
          </a:p>
          <a:p>
            <a:r>
              <a:rPr lang="en-US" sz="1100" i="1" dirty="0">
                <a:solidFill>
                  <a:srgbClr val="0070C0"/>
                </a:solidFill>
              </a:rPr>
              <a:t>Destination choices: Canada, United States, International.</a:t>
            </a:r>
          </a:p>
          <a:p>
            <a:endParaRPr lang="en-US" sz="1100" i="1" dirty="0">
              <a:solidFill>
                <a:srgbClr val="0070C0"/>
              </a:solidFill>
            </a:endParaRPr>
          </a:p>
          <a:p>
            <a:r>
              <a:rPr lang="en-US" sz="1100" i="1" dirty="0">
                <a:solidFill>
                  <a:srgbClr val="0070C0"/>
                </a:solidFill>
              </a:rPr>
              <a:t>Tax is 5% only if Canada</a:t>
            </a:r>
          </a:p>
          <a:p>
            <a:endParaRPr lang="en-US" sz="1100" i="1" dirty="0">
              <a:solidFill>
                <a:srgbClr val="0070C0"/>
              </a:solidFill>
            </a:endParaRPr>
          </a:p>
          <a:p>
            <a:r>
              <a:rPr lang="en-US" sz="1100" i="1" dirty="0">
                <a:solidFill>
                  <a:srgbClr val="0070C0"/>
                </a:solidFill>
              </a:rPr>
              <a:t>Shipping Cost: If merchandise over $500, then it is free.</a:t>
            </a:r>
          </a:p>
          <a:p>
            <a:endParaRPr lang="en-US" sz="1100" i="1" dirty="0">
              <a:solidFill>
                <a:srgbClr val="0070C0"/>
              </a:solidFill>
            </a:endParaRPr>
          </a:p>
          <a:p>
            <a:r>
              <a:rPr lang="en-US" sz="1100" i="1" dirty="0">
                <a:solidFill>
                  <a:srgbClr val="0070C0"/>
                </a:solidFill>
              </a:rPr>
              <a:t> Otherwise cost for each depends on destination (</a:t>
            </a:r>
            <a:r>
              <a:rPr lang="en-US" sz="1100" i="1" dirty="0" err="1">
                <a:solidFill>
                  <a:srgbClr val="0070C0"/>
                </a:solidFill>
              </a:rPr>
              <a:t>CA,US,Int</a:t>
            </a:r>
            <a:r>
              <a:rPr lang="en-US" sz="1100" i="1" dirty="0">
                <a:solidFill>
                  <a:srgbClr val="0070C0"/>
                </a:solidFill>
              </a:rPr>
              <a:t>): Standard ($10, $15, $20), Express ($25, $25, $30), Priority ($35,$50,$50)</a:t>
            </a:r>
          </a:p>
          <a:p>
            <a:endParaRPr lang="en-US" sz="1100" i="1" dirty="0">
              <a:solidFill>
                <a:srgbClr val="0070C0"/>
              </a:solidFill>
            </a:endParaRPr>
          </a:p>
        </p:txBody>
      </p:sp>
      <p:sp>
        <p:nvSpPr>
          <p:cNvPr id="53" name="TextBox 52">
            <a:extLst>
              <a:ext uri="{FF2B5EF4-FFF2-40B4-BE49-F238E27FC236}">
                <a16:creationId xmlns:a16="http://schemas.microsoft.com/office/drawing/2014/main" id="{8BAE7F8B-B858-C2BB-691C-573C537AC444}"/>
              </a:ext>
            </a:extLst>
          </p:cNvPr>
          <p:cNvSpPr txBox="1"/>
          <p:nvPr/>
        </p:nvSpPr>
        <p:spPr>
          <a:xfrm>
            <a:off x="1085118" y="5768248"/>
            <a:ext cx="1737256" cy="769441"/>
          </a:xfrm>
          <a:prstGeom prst="rect">
            <a:avLst/>
          </a:prstGeom>
          <a:noFill/>
        </p:spPr>
        <p:txBody>
          <a:bodyPr wrap="square" rtlCol="0">
            <a:spAutoFit/>
          </a:bodyPr>
          <a:lstStyle/>
          <a:p>
            <a:r>
              <a:rPr lang="en-US" sz="1100" i="1" dirty="0">
                <a:solidFill>
                  <a:srgbClr val="0070C0"/>
                </a:solidFill>
              </a:rPr>
              <a:t>When checkout is clicked, display a toaster message, clear the shopping cart, and return to home page.</a:t>
            </a:r>
          </a:p>
        </p:txBody>
      </p:sp>
      <p:cxnSp>
        <p:nvCxnSpPr>
          <p:cNvPr id="54" name="Straight Connector 53">
            <a:extLst>
              <a:ext uri="{FF2B5EF4-FFF2-40B4-BE49-F238E27FC236}">
                <a16:creationId xmlns:a16="http://schemas.microsoft.com/office/drawing/2014/main" id="{8AEAB9CB-AD2B-B52A-5CFB-6514191B11D4}"/>
              </a:ext>
            </a:extLst>
          </p:cNvPr>
          <p:cNvCxnSpPr>
            <a:cxnSpLocks/>
          </p:cNvCxnSpPr>
          <p:nvPr/>
        </p:nvCxnSpPr>
        <p:spPr>
          <a:xfrm>
            <a:off x="2931909" y="6361590"/>
            <a:ext cx="62332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230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8CD5F8-F93B-4B2C-6027-0CF98D0B0267}"/>
              </a:ext>
            </a:extLst>
          </p:cNvPr>
          <p:cNvSpPr/>
          <p:nvPr/>
        </p:nvSpPr>
        <p:spPr>
          <a:xfrm>
            <a:off x="0" y="367990"/>
            <a:ext cx="12192000" cy="6233532"/>
          </a:xfrm>
          <a:prstGeom prst="rect">
            <a:avLst/>
          </a:prstGeom>
          <a:solidFill>
            <a:srgbClr val="3B3838">
              <a:alpha val="8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86CA72-B236-D577-D3EB-0600AD9F1B5C}"/>
              </a:ext>
            </a:extLst>
          </p:cNvPr>
          <p:cNvGrpSpPr/>
          <p:nvPr/>
        </p:nvGrpSpPr>
        <p:grpSpPr>
          <a:xfrm>
            <a:off x="1575396" y="1374503"/>
            <a:ext cx="9597610" cy="4343994"/>
            <a:chOff x="331902" y="706549"/>
            <a:chExt cx="9597610" cy="4343994"/>
          </a:xfrm>
        </p:grpSpPr>
        <p:sp>
          <p:nvSpPr>
            <p:cNvPr id="4" name="TextBox 3">
              <a:extLst>
                <a:ext uri="{FF2B5EF4-FFF2-40B4-BE49-F238E27FC236}">
                  <a16:creationId xmlns:a16="http://schemas.microsoft.com/office/drawing/2014/main" id="{2BFF3E51-8A3D-1DCD-B4DF-7343DF45A4B7}"/>
                </a:ext>
              </a:extLst>
            </p:cNvPr>
            <p:cNvSpPr txBox="1"/>
            <p:nvPr/>
          </p:nvSpPr>
          <p:spPr>
            <a:xfrm>
              <a:off x="8026433" y="1574049"/>
              <a:ext cx="1726953" cy="276999"/>
            </a:xfrm>
            <a:prstGeom prst="rect">
              <a:avLst/>
            </a:prstGeom>
            <a:noFill/>
          </p:spPr>
          <p:txBody>
            <a:bodyPr wrap="square" rtlCol="0">
              <a:spAutoFit/>
            </a:bodyPr>
            <a:lstStyle/>
            <a:p>
              <a:r>
                <a:rPr lang="en-US" sz="1200" b="1" dirty="0"/>
                <a:t>Points</a:t>
              </a:r>
            </a:p>
          </p:txBody>
        </p:sp>
        <p:sp>
          <p:nvSpPr>
            <p:cNvPr id="5" name="TextBox 4">
              <a:extLst>
                <a:ext uri="{FF2B5EF4-FFF2-40B4-BE49-F238E27FC236}">
                  <a16:creationId xmlns:a16="http://schemas.microsoft.com/office/drawing/2014/main" id="{EDB2A444-FFBF-3058-936F-5262EEB6F0AD}"/>
                </a:ext>
              </a:extLst>
            </p:cNvPr>
            <p:cNvSpPr txBox="1"/>
            <p:nvPr/>
          </p:nvSpPr>
          <p:spPr>
            <a:xfrm>
              <a:off x="7991599" y="2515021"/>
              <a:ext cx="1929501" cy="246221"/>
            </a:xfrm>
            <a:prstGeom prst="rect">
              <a:avLst/>
            </a:prstGeom>
            <a:noFill/>
          </p:spPr>
          <p:txBody>
            <a:bodyPr wrap="square" rtlCol="0">
              <a:spAutoFit/>
            </a:bodyPr>
            <a:lstStyle/>
            <a:p>
              <a:r>
                <a:rPr lang="en-US" sz="1000" dirty="0"/>
                <a:t>15</a:t>
              </a:r>
            </a:p>
          </p:txBody>
        </p:sp>
        <p:sp>
          <p:nvSpPr>
            <p:cNvPr id="6" name="TextBox 5">
              <a:extLst>
                <a:ext uri="{FF2B5EF4-FFF2-40B4-BE49-F238E27FC236}">
                  <a16:creationId xmlns:a16="http://schemas.microsoft.com/office/drawing/2014/main" id="{03F46C5A-EBA1-5BE9-97DF-6B510958F213}"/>
                </a:ext>
              </a:extLst>
            </p:cNvPr>
            <p:cNvSpPr txBox="1"/>
            <p:nvPr/>
          </p:nvSpPr>
          <p:spPr>
            <a:xfrm>
              <a:off x="8000011" y="2830742"/>
              <a:ext cx="1929501" cy="246221"/>
            </a:xfrm>
            <a:prstGeom prst="rect">
              <a:avLst/>
            </a:prstGeom>
            <a:noFill/>
          </p:spPr>
          <p:txBody>
            <a:bodyPr wrap="square" rtlCol="0">
              <a:spAutoFit/>
            </a:bodyPr>
            <a:lstStyle/>
            <a:p>
              <a:r>
                <a:rPr lang="en-US" sz="1000" dirty="0"/>
                <a:t>8</a:t>
              </a:r>
            </a:p>
          </p:txBody>
        </p:sp>
        <p:sp>
          <p:nvSpPr>
            <p:cNvPr id="7" name="Rectangle 6">
              <a:extLst>
                <a:ext uri="{FF2B5EF4-FFF2-40B4-BE49-F238E27FC236}">
                  <a16:creationId xmlns:a16="http://schemas.microsoft.com/office/drawing/2014/main" id="{E19BBD33-5D74-19FC-262E-E1B0C38AE5D3}"/>
                </a:ext>
              </a:extLst>
            </p:cNvPr>
            <p:cNvSpPr/>
            <p:nvPr/>
          </p:nvSpPr>
          <p:spPr>
            <a:xfrm>
              <a:off x="331902" y="757268"/>
              <a:ext cx="8856704" cy="4293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68">
              <a:extLst>
                <a:ext uri="{FF2B5EF4-FFF2-40B4-BE49-F238E27FC236}">
                  <a16:creationId xmlns:a16="http://schemas.microsoft.com/office/drawing/2014/main" id="{32EC1D42-366B-CBA7-6167-39D3731FAA6B}"/>
                </a:ext>
              </a:extLst>
            </p:cNvPr>
            <p:cNvSpPr/>
            <p:nvPr/>
          </p:nvSpPr>
          <p:spPr>
            <a:xfrm>
              <a:off x="8069521" y="4472639"/>
              <a:ext cx="99374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CEED94F-C68F-F02B-8903-EB463A33CDED}"/>
                </a:ext>
              </a:extLst>
            </p:cNvPr>
            <p:cNvSpPr txBox="1"/>
            <p:nvPr/>
          </p:nvSpPr>
          <p:spPr>
            <a:xfrm>
              <a:off x="8334441" y="4487825"/>
              <a:ext cx="526106" cy="276999"/>
            </a:xfrm>
            <a:prstGeom prst="rect">
              <a:avLst/>
            </a:prstGeom>
            <a:noFill/>
          </p:spPr>
          <p:txBody>
            <a:bodyPr wrap="none" rtlCol="0">
              <a:spAutoFit/>
            </a:bodyPr>
            <a:lstStyle/>
            <a:p>
              <a:r>
                <a:rPr lang="en-US" sz="1200" b="1" dirty="0"/>
                <a:t>Close</a:t>
              </a:r>
            </a:p>
          </p:txBody>
        </p:sp>
        <p:sp>
          <p:nvSpPr>
            <p:cNvPr id="26" name="TextBox 25">
              <a:extLst>
                <a:ext uri="{FF2B5EF4-FFF2-40B4-BE49-F238E27FC236}">
                  <a16:creationId xmlns:a16="http://schemas.microsoft.com/office/drawing/2014/main" id="{3444E330-F00A-4131-C013-89B4FE04ED4C}"/>
                </a:ext>
              </a:extLst>
            </p:cNvPr>
            <p:cNvSpPr txBox="1"/>
            <p:nvPr/>
          </p:nvSpPr>
          <p:spPr>
            <a:xfrm>
              <a:off x="1999424" y="2543697"/>
              <a:ext cx="3508260" cy="430887"/>
            </a:xfrm>
            <a:prstGeom prst="rect">
              <a:avLst/>
            </a:prstGeom>
            <a:noFill/>
          </p:spPr>
          <p:txBody>
            <a:bodyPr wrap="square" rtlCol="0">
              <a:spAutoFit/>
            </a:bodyPr>
            <a:lstStyle/>
            <a:p>
              <a:r>
                <a:rPr lang="en-US" sz="1100" i="1" dirty="0">
                  <a:solidFill>
                    <a:srgbClr val="0070C0"/>
                  </a:solidFill>
                </a:rPr>
                <a:t>Don’t just dump this info together like this: format it in a way that makes it easy to read and pleasing to look at.</a:t>
              </a:r>
            </a:p>
          </p:txBody>
        </p:sp>
        <p:sp>
          <p:nvSpPr>
            <p:cNvPr id="40" name="TextBox 39">
              <a:extLst>
                <a:ext uri="{FF2B5EF4-FFF2-40B4-BE49-F238E27FC236}">
                  <a16:creationId xmlns:a16="http://schemas.microsoft.com/office/drawing/2014/main" id="{62FEDADC-1E91-A32A-B0F5-83705610B7CD}"/>
                </a:ext>
              </a:extLst>
            </p:cNvPr>
            <p:cNvSpPr txBox="1"/>
            <p:nvPr/>
          </p:nvSpPr>
          <p:spPr>
            <a:xfrm>
              <a:off x="5507684" y="4145503"/>
              <a:ext cx="2547921" cy="769441"/>
            </a:xfrm>
            <a:prstGeom prst="rect">
              <a:avLst/>
            </a:prstGeom>
            <a:noFill/>
          </p:spPr>
          <p:txBody>
            <a:bodyPr wrap="square" rtlCol="0">
              <a:spAutoFit/>
            </a:bodyPr>
            <a:lstStyle/>
            <a:p>
              <a:r>
                <a:rPr lang="en-US" sz="1100" i="1" dirty="0">
                  <a:solidFill>
                    <a:srgbClr val="0070C0"/>
                  </a:solidFill>
                </a:rPr>
                <a:t>This should behave like a modal window (like a dialog/popup), which stays until it is closed. Often the underlying view is partly hidden.</a:t>
              </a:r>
            </a:p>
          </p:txBody>
        </p:sp>
        <p:sp>
          <p:nvSpPr>
            <p:cNvPr id="41" name="Flowchart: Summing Junction 40">
              <a:extLst>
                <a:ext uri="{FF2B5EF4-FFF2-40B4-BE49-F238E27FC236}">
                  <a16:creationId xmlns:a16="http://schemas.microsoft.com/office/drawing/2014/main" id="{9F118EB0-A421-E399-8D0A-38B914A869B0}"/>
                </a:ext>
              </a:extLst>
            </p:cNvPr>
            <p:cNvSpPr/>
            <p:nvPr/>
          </p:nvSpPr>
          <p:spPr>
            <a:xfrm>
              <a:off x="8886458" y="789258"/>
              <a:ext cx="217373" cy="217373"/>
            </a:xfrm>
            <a:prstGeom prst="flowChartSummingJunction">
              <a:avLst/>
            </a:prstGeom>
            <a:solidFill>
              <a:srgbClr val="D9D9D9"/>
            </a:solidFill>
            <a:ln w="3175">
              <a:solidFill>
                <a:srgbClr val="3B3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F1195E9-8C3E-10D9-1A3D-F2EF38974BDA}"/>
                </a:ext>
              </a:extLst>
            </p:cNvPr>
            <p:cNvSpPr txBox="1"/>
            <p:nvPr/>
          </p:nvSpPr>
          <p:spPr>
            <a:xfrm>
              <a:off x="5777087" y="706549"/>
              <a:ext cx="3109371" cy="430887"/>
            </a:xfrm>
            <a:prstGeom prst="rect">
              <a:avLst/>
            </a:prstGeom>
            <a:noFill/>
          </p:spPr>
          <p:txBody>
            <a:bodyPr wrap="square" rtlCol="0">
              <a:spAutoFit/>
            </a:bodyPr>
            <a:lstStyle/>
            <a:p>
              <a:r>
                <a:rPr lang="en-US" sz="1100" i="1" dirty="0">
                  <a:solidFill>
                    <a:srgbClr val="0070C0"/>
                  </a:solidFill>
                </a:rPr>
                <a:t>Modal windows often provide another way to close by clicking on element in upper-right corner</a:t>
              </a:r>
            </a:p>
          </p:txBody>
        </p:sp>
        <p:sp>
          <p:nvSpPr>
            <p:cNvPr id="43" name="Rectangle 42">
              <a:extLst>
                <a:ext uri="{FF2B5EF4-FFF2-40B4-BE49-F238E27FC236}">
                  <a16:creationId xmlns:a16="http://schemas.microsoft.com/office/drawing/2014/main" id="{442F6DBE-FB82-AC2F-1401-79DCC15616C6}"/>
                </a:ext>
              </a:extLst>
            </p:cNvPr>
            <p:cNvSpPr/>
            <p:nvPr/>
          </p:nvSpPr>
          <p:spPr>
            <a:xfrm>
              <a:off x="8889424" y="1088444"/>
              <a:ext cx="225952" cy="300229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Isosceles Triangle 44">
              <a:extLst>
                <a:ext uri="{FF2B5EF4-FFF2-40B4-BE49-F238E27FC236}">
                  <a16:creationId xmlns:a16="http://schemas.microsoft.com/office/drawing/2014/main" id="{38F84F4E-CA26-4D7B-3327-92D2C150A44C}"/>
                </a:ext>
              </a:extLst>
            </p:cNvPr>
            <p:cNvSpPr/>
            <p:nvPr/>
          </p:nvSpPr>
          <p:spPr>
            <a:xfrm rot="10800000">
              <a:off x="8907165" y="3957387"/>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6" name="Isosceles Triangle 45">
              <a:extLst>
                <a:ext uri="{FF2B5EF4-FFF2-40B4-BE49-F238E27FC236}">
                  <a16:creationId xmlns:a16="http://schemas.microsoft.com/office/drawing/2014/main" id="{31E92F79-9FC8-A244-6C71-10462A07DFF8}"/>
                </a:ext>
              </a:extLst>
            </p:cNvPr>
            <p:cNvSpPr/>
            <p:nvPr/>
          </p:nvSpPr>
          <p:spPr>
            <a:xfrm>
              <a:off x="8918785" y="1093621"/>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7" name="TextBox 46">
              <a:extLst>
                <a:ext uri="{FF2B5EF4-FFF2-40B4-BE49-F238E27FC236}">
                  <a16:creationId xmlns:a16="http://schemas.microsoft.com/office/drawing/2014/main" id="{DEBB54F5-4A3E-D8AA-0DA5-DC86245BFC55}"/>
                </a:ext>
              </a:extLst>
            </p:cNvPr>
            <p:cNvSpPr txBox="1"/>
            <p:nvPr/>
          </p:nvSpPr>
          <p:spPr>
            <a:xfrm>
              <a:off x="2055565" y="1699412"/>
              <a:ext cx="3392297" cy="600164"/>
            </a:xfrm>
            <a:prstGeom prst="rect">
              <a:avLst/>
            </a:prstGeom>
            <a:noFill/>
          </p:spPr>
          <p:txBody>
            <a:bodyPr wrap="square" rtlCol="0">
              <a:spAutoFit/>
            </a:bodyPr>
            <a:lstStyle/>
            <a:p>
              <a:r>
                <a:rPr lang="en-CA" sz="1100" i="1" dirty="0">
                  <a:solidFill>
                    <a:srgbClr val="0070C0"/>
                  </a:solidFill>
                </a:rPr>
                <a:t>Provide a brief description, styled nicely, about what this site is about, what technologies you are using, the group member names, and the URL for the </a:t>
              </a:r>
              <a:r>
                <a:rPr lang="en-CA" sz="1100" i="1" dirty="0" err="1">
                  <a:solidFill>
                    <a:srgbClr val="0070C0"/>
                  </a:solidFill>
                </a:rPr>
                <a:t>github</a:t>
              </a:r>
              <a:r>
                <a:rPr lang="en-CA" sz="1100" i="1" dirty="0">
                  <a:solidFill>
                    <a:srgbClr val="0070C0"/>
                  </a:solidFill>
                </a:rPr>
                <a:t> repo. </a:t>
              </a:r>
            </a:p>
          </p:txBody>
        </p:sp>
        <p:sp>
          <p:nvSpPr>
            <p:cNvPr id="50" name="TextBox 49">
              <a:extLst>
                <a:ext uri="{FF2B5EF4-FFF2-40B4-BE49-F238E27FC236}">
                  <a16:creationId xmlns:a16="http://schemas.microsoft.com/office/drawing/2014/main" id="{649CF7A8-E576-7677-02AA-61C18A155B25}"/>
                </a:ext>
              </a:extLst>
            </p:cNvPr>
            <p:cNvSpPr txBox="1"/>
            <p:nvPr/>
          </p:nvSpPr>
          <p:spPr>
            <a:xfrm>
              <a:off x="2007289" y="3268431"/>
              <a:ext cx="3508260" cy="430887"/>
            </a:xfrm>
            <a:prstGeom prst="rect">
              <a:avLst/>
            </a:prstGeom>
            <a:noFill/>
          </p:spPr>
          <p:txBody>
            <a:bodyPr wrap="square" rtlCol="0">
              <a:spAutoFit/>
            </a:bodyPr>
            <a:lstStyle/>
            <a:p>
              <a:r>
                <a:rPr lang="en-US" sz="1100" i="1" dirty="0">
                  <a:solidFill>
                    <a:srgbClr val="0070C0"/>
                  </a:solidFill>
                </a:rPr>
                <a:t>Recommend using the &lt;dialog&gt; element for this (see Lab9b) … it’s very easy to use! </a:t>
              </a:r>
            </a:p>
          </p:txBody>
        </p:sp>
      </p:grpSp>
      <p:sp>
        <p:nvSpPr>
          <p:cNvPr id="49" name="TextBox 48">
            <a:extLst>
              <a:ext uri="{FF2B5EF4-FFF2-40B4-BE49-F238E27FC236}">
                <a16:creationId xmlns:a16="http://schemas.microsoft.com/office/drawing/2014/main" id="{A375A9AC-1E2A-2749-172B-449A24ECE2BB}"/>
              </a:ext>
            </a:extLst>
          </p:cNvPr>
          <p:cNvSpPr txBox="1"/>
          <p:nvPr/>
        </p:nvSpPr>
        <p:spPr>
          <a:xfrm>
            <a:off x="3314468" y="1805390"/>
            <a:ext cx="1337443" cy="461665"/>
          </a:xfrm>
          <a:prstGeom prst="rect">
            <a:avLst/>
          </a:prstGeom>
          <a:noFill/>
        </p:spPr>
        <p:txBody>
          <a:bodyPr wrap="square" rtlCol="0">
            <a:spAutoFit/>
          </a:bodyPr>
          <a:lstStyle/>
          <a:p>
            <a:r>
              <a:rPr lang="en-US" sz="1200" b="1" dirty="0"/>
              <a:t>About Us Dialog / Modal Window</a:t>
            </a:r>
          </a:p>
        </p:txBody>
      </p:sp>
    </p:spTree>
    <p:extLst>
      <p:ext uri="{BB962C8B-B14F-4D97-AF65-F5344CB8AC3E}">
        <p14:creationId xmlns:p14="http://schemas.microsoft.com/office/powerpoint/2010/main" val="255787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9DF260-7DBB-3BBF-6395-CCE75880149C}"/>
              </a:ext>
            </a:extLst>
          </p:cNvPr>
          <p:cNvSpPr/>
          <p:nvPr/>
        </p:nvSpPr>
        <p:spPr>
          <a:xfrm>
            <a:off x="880562" y="555477"/>
            <a:ext cx="5215438" cy="51177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F9A791B1-DBF2-8FC5-6B38-CAFAA243ABDF}"/>
              </a:ext>
            </a:extLst>
          </p:cNvPr>
          <p:cNvSpPr/>
          <p:nvPr/>
        </p:nvSpPr>
        <p:spPr>
          <a:xfrm>
            <a:off x="1527038" y="926432"/>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7FBFA2B-A123-737D-4DAC-E5D8AADB9605}"/>
              </a:ext>
            </a:extLst>
          </p:cNvPr>
          <p:cNvSpPr txBox="1"/>
          <p:nvPr/>
        </p:nvSpPr>
        <p:spPr>
          <a:xfrm>
            <a:off x="1019990" y="657340"/>
            <a:ext cx="1048156" cy="246221"/>
          </a:xfrm>
          <a:prstGeom prst="rect">
            <a:avLst/>
          </a:prstGeom>
          <a:noFill/>
        </p:spPr>
        <p:txBody>
          <a:bodyPr wrap="square" rtlCol="0">
            <a:spAutoFit/>
          </a:bodyPr>
          <a:lstStyle/>
          <a:p>
            <a:r>
              <a:rPr lang="en-US" sz="1000" b="1" dirty="0"/>
              <a:t>&lt;main&gt;</a:t>
            </a:r>
          </a:p>
        </p:txBody>
      </p:sp>
      <p:sp>
        <p:nvSpPr>
          <p:cNvPr id="4" name="TextBox 3">
            <a:extLst>
              <a:ext uri="{FF2B5EF4-FFF2-40B4-BE49-F238E27FC236}">
                <a16:creationId xmlns:a16="http://schemas.microsoft.com/office/drawing/2014/main" id="{4585EBFB-5E26-D968-C897-4D9AEF840F68}"/>
              </a:ext>
            </a:extLst>
          </p:cNvPr>
          <p:cNvSpPr txBox="1"/>
          <p:nvPr/>
        </p:nvSpPr>
        <p:spPr>
          <a:xfrm>
            <a:off x="1544067" y="952746"/>
            <a:ext cx="1851459" cy="246221"/>
          </a:xfrm>
          <a:prstGeom prst="rect">
            <a:avLst/>
          </a:prstGeom>
          <a:noFill/>
        </p:spPr>
        <p:txBody>
          <a:bodyPr wrap="square" rtlCol="0">
            <a:spAutoFit/>
          </a:bodyPr>
          <a:lstStyle/>
          <a:p>
            <a:r>
              <a:rPr lang="en-US" sz="1000" b="1" dirty="0"/>
              <a:t>&lt;article id=home&gt;</a:t>
            </a:r>
          </a:p>
        </p:txBody>
      </p:sp>
      <p:sp>
        <p:nvSpPr>
          <p:cNvPr id="11" name="Rectangle 10">
            <a:extLst>
              <a:ext uri="{FF2B5EF4-FFF2-40B4-BE49-F238E27FC236}">
                <a16:creationId xmlns:a16="http://schemas.microsoft.com/office/drawing/2014/main" id="{DD6F8F7D-A683-A32B-29E4-14C088BBD045}"/>
              </a:ext>
            </a:extLst>
          </p:cNvPr>
          <p:cNvSpPr/>
          <p:nvPr/>
        </p:nvSpPr>
        <p:spPr>
          <a:xfrm>
            <a:off x="1527038" y="1806728"/>
            <a:ext cx="4335439" cy="19541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D343E9F-2B93-DEEC-D129-867BB16EB37D}"/>
              </a:ext>
            </a:extLst>
          </p:cNvPr>
          <p:cNvSpPr txBox="1"/>
          <p:nvPr/>
        </p:nvSpPr>
        <p:spPr>
          <a:xfrm>
            <a:off x="1544067" y="1833042"/>
            <a:ext cx="1851459" cy="246221"/>
          </a:xfrm>
          <a:prstGeom prst="rect">
            <a:avLst/>
          </a:prstGeom>
          <a:noFill/>
        </p:spPr>
        <p:txBody>
          <a:bodyPr wrap="square" rtlCol="0">
            <a:spAutoFit/>
          </a:bodyPr>
          <a:lstStyle/>
          <a:p>
            <a:r>
              <a:rPr lang="en-US" sz="1000" b="1" dirty="0"/>
              <a:t>&lt;article id=browse&gt;</a:t>
            </a:r>
          </a:p>
        </p:txBody>
      </p:sp>
      <p:sp>
        <p:nvSpPr>
          <p:cNvPr id="13" name="Rectangle 12">
            <a:extLst>
              <a:ext uri="{FF2B5EF4-FFF2-40B4-BE49-F238E27FC236}">
                <a16:creationId xmlns:a16="http://schemas.microsoft.com/office/drawing/2014/main" id="{F9CA5B0E-E296-E798-3D16-C4D9BF0DD556}"/>
              </a:ext>
            </a:extLst>
          </p:cNvPr>
          <p:cNvSpPr/>
          <p:nvPr/>
        </p:nvSpPr>
        <p:spPr>
          <a:xfrm>
            <a:off x="1544067" y="3872468"/>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3A9BCBA-D4DA-C79C-5575-0FF9B7091011}"/>
              </a:ext>
            </a:extLst>
          </p:cNvPr>
          <p:cNvSpPr txBox="1"/>
          <p:nvPr/>
        </p:nvSpPr>
        <p:spPr>
          <a:xfrm>
            <a:off x="1561096" y="3898782"/>
            <a:ext cx="1851459" cy="246221"/>
          </a:xfrm>
          <a:prstGeom prst="rect">
            <a:avLst/>
          </a:prstGeom>
          <a:noFill/>
        </p:spPr>
        <p:txBody>
          <a:bodyPr wrap="square" rtlCol="0">
            <a:spAutoFit/>
          </a:bodyPr>
          <a:lstStyle/>
          <a:p>
            <a:r>
              <a:rPr lang="en-US" sz="1000" b="1" dirty="0"/>
              <a:t>&lt;article id=</a:t>
            </a:r>
            <a:r>
              <a:rPr lang="en-US" sz="1000" b="1" dirty="0" err="1"/>
              <a:t>singleproduct</a:t>
            </a:r>
            <a:r>
              <a:rPr lang="en-US" sz="1000" b="1" dirty="0"/>
              <a:t>&gt;</a:t>
            </a:r>
          </a:p>
        </p:txBody>
      </p:sp>
      <p:sp>
        <p:nvSpPr>
          <p:cNvPr id="17" name="Rectangle 16">
            <a:extLst>
              <a:ext uri="{FF2B5EF4-FFF2-40B4-BE49-F238E27FC236}">
                <a16:creationId xmlns:a16="http://schemas.microsoft.com/office/drawing/2014/main" id="{49B726A5-D8F9-7125-B2B4-793104E75367}"/>
              </a:ext>
            </a:extLst>
          </p:cNvPr>
          <p:cNvSpPr/>
          <p:nvPr/>
        </p:nvSpPr>
        <p:spPr>
          <a:xfrm>
            <a:off x="1527038" y="4768934"/>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FB833BEB-FCFA-FE08-92CC-8C8525805460}"/>
              </a:ext>
            </a:extLst>
          </p:cNvPr>
          <p:cNvSpPr txBox="1"/>
          <p:nvPr/>
        </p:nvSpPr>
        <p:spPr>
          <a:xfrm>
            <a:off x="1544067" y="4795248"/>
            <a:ext cx="1851459" cy="246221"/>
          </a:xfrm>
          <a:prstGeom prst="rect">
            <a:avLst/>
          </a:prstGeom>
          <a:noFill/>
        </p:spPr>
        <p:txBody>
          <a:bodyPr wrap="square" rtlCol="0">
            <a:spAutoFit/>
          </a:bodyPr>
          <a:lstStyle/>
          <a:p>
            <a:r>
              <a:rPr lang="en-US" sz="1000" b="1" dirty="0"/>
              <a:t>&lt;dialog id=about&gt;</a:t>
            </a:r>
          </a:p>
        </p:txBody>
      </p:sp>
      <p:sp>
        <p:nvSpPr>
          <p:cNvPr id="21" name="Rectangle 20">
            <a:extLst>
              <a:ext uri="{FF2B5EF4-FFF2-40B4-BE49-F238E27FC236}">
                <a16:creationId xmlns:a16="http://schemas.microsoft.com/office/drawing/2014/main" id="{8F0A433A-A178-509F-3CD2-6189FE2838C4}"/>
              </a:ext>
            </a:extLst>
          </p:cNvPr>
          <p:cNvSpPr/>
          <p:nvPr/>
        </p:nvSpPr>
        <p:spPr>
          <a:xfrm>
            <a:off x="2068146" y="2076025"/>
            <a:ext cx="3016663"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240927FE-EAFD-BFCC-8D7E-6B0C69035799}"/>
              </a:ext>
            </a:extLst>
          </p:cNvPr>
          <p:cNvSpPr/>
          <p:nvPr/>
        </p:nvSpPr>
        <p:spPr>
          <a:xfrm>
            <a:off x="2068147" y="2834713"/>
            <a:ext cx="3016662"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16CFC95F-FADC-17BE-B318-4CC91BBE16F2}"/>
              </a:ext>
            </a:extLst>
          </p:cNvPr>
          <p:cNvSpPr txBox="1"/>
          <p:nvPr/>
        </p:nvSpPr>
        <p:spPr>
          <a:xfrm>
            <a:off x="2051117" y="2105577"/>
            <a:ext cx="1851459" cy="246221"/>
          </a:xfrm>
          <a:prstGeom prst="rect">
            <a:avLst/>
          </a:prstGeom>
          <a:noFill/>
        </p:spPr>
        <p:txBody>
          <a:bodyPr wrap="square" rtlCol="0">
            <a:spAutoFit/>
          </a:bodyPr>
          <a:lstStyle/>
          <a:p>
            <a:r>
              <a:rPr lang="en-US" sz="1000" b="1" dirty="0"/>
              <a:t>&lt;section id=filter&gt;</a:t>
            </a:r>
          </a:p>
        </p:txBody>
      </p:sp>
      <p:sp>
        <p:nvSpPr>
          <p:cNvPr id="20" name="TextBox 19">
            <a:extLst>
              <a:ext uri="{FF2B5EF4-FFF2-40B4-BE49-F238E27FC236}">
                <a16:creationId xmlns:a16="http://schemas.microsoft.com/office/drawing/2014/main" id="{D75D18CC-4BC7-0D18-75F5-F59AB7921328}"/>
              </a:ext>
            </a:extLst>
          </p:cNvPr>
          <p:cNvSpPr txBox="1"/>
          <p:nvPr/>
        </p:nvSpPr>
        <p:spPr>
          <a:xfrm>
            <a:off x="2051116" y="2834713"/>
            <a:ext cx="1851459" cy="246221"/>
          </a:xfrm>
          <a:prstGeom prst="rect">
            <a:avLst/>
          </a:prstGeom>
          <a:noFill/>
        </p:spPr>
        <p:txBody>
          <a:bodyPr wrap="square" rtlCol="0">
            <a:spAutoFit/>
          </a:bodyPr>
          <a:lstStyle/>
          <a:p>
            <a:r>
              <a:rPr lang="en-US" sz="1000" b="1" dirty="0"/>
              <a:t>&lt;section id=results&gt;</a:t>
            </a:r>
          </a:p>
        </p:txBody>
      </p:sp>
      <p:sp>
        <p:nvSpPr>
          <p:cNvPr id="23" name="TextBox 22">
            <a:extLst>
              <a:ext uri="{FF2B5EF4-FFF2-40B4-BE49-F238E27FC236}">
                <a16:creationId xmlns:a16="http://schemas.microsoft.com/office/drawing/2014/main" id="{39018F57-AA3F-238C-75AA-CE9079A98FA0}"/>
              </a:ext>
            </a:extLst>
          </p:cNvPr>
          <p:cNvSpPr txBox="1"/>
          <p:nvPr/>
        </p:nvSpPr>
        <p:spPr>
          <a:xfrm>
            <a:off x="3960166" y="915795"/>
            <a:ext cx="2135834" cy="769441"/>
          </a:xfrm>
          <a:prstGeom prst="rect">
            <a:avLst/>
          </a:prstGeom>
          <a:noFill/>
        </p:spPr>
        <p:txBody>
          <a:bodyPr wrap="square" rtlCol="0">
            <a:spAutoFit/>
          </a:bodyPr>
          <a:lstStyle/>
          <a:p>
            <a:r>
              <a:rPr lang="en-US" sz="1100" i="1" dirty="0">
                <a:solidFill>
                  <a:srgbClr val="0070C0"/>
                </a:solidFill>
              </a:rPr>
              <a:t>You will programmatically show/hide these different elements to implement the different views</a:t>
            </a:r>
          </a:p>
        </p:txBody>
      </p:sp>
      <p:sp>
        <p:nvSpPr>
          <p:cNvPr id="24" name="TextBox 23">
            <a:extLst>
              <a:ext uri="{FF2B5EF4-FFF2-40B4-BE49-F238E27FC236}">
                <a16:creationId xmlns:a16="http://schemas.microsoft.com/office/drawing/2014/main" id="{79A33814-F1FE-01DF-4BAC-D750AF4D27F8}"/>
              </a:ext>
            </a:extLst>
          </p:cNvPr>
          <p:cNvSpPr txBox="1"/>
          <p:nvPr/>
        </p:nvSpPr>
        <p:spPr>
          <a:xfrm>
            <a:off x="880562" y="274852"/>
            <a:ext cx="1048156" cy="246221"/>
          </a:xfrm>
          <a:prstGeom prst="rect">
            <a:avLst/>
          </a:prstGeom>
          <a:noFill/>
        </p:spPr>
        <p:txBody>
          <a:bodyPr wrap="square" rtlCol="0">
            <a:spAutoFit/>
          </a:bodyPr>
          <a:lstStyle/>
          <a:p>
            <a:r>
              <a:rPr lang="en-US" sz="1000" b="1" dirty="0"/>
              <a:t>index.html</a:t>
            </a:r>
          </a:p>
        </p:txBody>
      </p:sp>
    </p:spTree>
    <p:extLst>
      <p:ext uri="{BB962C8B-B14F-4D97-AF65-F5344CB8AC3E}">
        <p14:creationId xmlns:p14="http://schemas.microsoft.com/office/powerpoint/2010/main" val="1730777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2307</TotalTime>
  <Words>1039</Words>
  <Application>Microsoft Office PowerPoint</Application>
  <PresentationFormat>Widescreen</PresentationFormat>
  <Paragraphs>209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Royal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Randy Connolly</dc:creator>
  <cp:lastModifiedBy>Randy Connolly</cp:lastModifiedBy>
  <cp:revision>79</cp:revision>
  <dcterms:created xsi:type="dcterms:W3CDTF">2019-09-25T17:00:28Z</dcterms:created>
  <dcterms:modified xsi:type="dcterms:W3CDTF">2025-10-29T00:20:46Z</dcterms:modified>
</cp:coreProperties>
</file>